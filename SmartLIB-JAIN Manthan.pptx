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2" r:id="rId1"/>
  </p:sldMasterIdLst>
  <p:notesMasterIdLst>
    <p:notesMasterId r:id="rId14"/>
  </p:notesMasterIdLst>
  <p:sldIdLst>
    <p:sldId id="257" r:id="rId2"/>
    <p:sldId id="256" r:id="rId3"/>
    <p:sldId id="260" r:id="rId4"/>
    <p:sldId id="261" r:id="rId5"/>
    <p:sldId id="264" r:id="rId6"/>
    <p:sldId id="269" r:id="rId7"/>
    <p:sldId id="272" r:id="rId8"/>
    <p:sldId id="265" r:id="rId9"/>
    <p:sldId id="266" r:id="rId10"/>
    <p:sldId id="270" r:id="rId11"/>
    <p:sldId id="271" r:id="rId12"/>
    <p:sldId id="273" r:id="rId13"/>
  </p:sldIdLst>
  <p:sldSz cx="14630400" cy="8229600"/>
  <p:notesSz cx="8229600" cy="14630400"/>
  <p:embeddedFontLst>
    <p:embeddedFont>
      <p:font typeface="Nirmala UI" panose="020B0502040204020203" pitchFamily="34" charset="0"/>
      <p:regular r:id="rId15"/>
      <p:bold r:id="rId16"/>
    </p:embeddedFont>
    <p:embeddedFont>
      <p:font typeface="Tw Cen MT" panose="020B0602020104020603" pitchFamily="34" charset="0"/>
      <p:regular r:id="rId17"/>
      <p:bold r:id="rId18"/>
      <p:italic r:id="rId19"/>
      <p:boldItalic r:id="rId20"/>
    </p:embeddedFont>
    <p:embeddedFont>
      <p:font typeface="Yu Gothic UI Semibold" panose="020B0700000000000000" pitchFamily="34" charset="-128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971"/>
    <a:srgbClr val="2A2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08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94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118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036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236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3694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6613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225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759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636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2195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7526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55527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838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9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369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730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171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153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061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638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2711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97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222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248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3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7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10EE93F-BDE1-4959-A628-DE8E9D777FC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9C510CB-9E4A-4EBF-B85C-0E58CB406F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89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  <p:sldLayoutId id="2147483805" r:id="rId20"/>
    <p:sldLayoutId id="2147483806" r:id="rId21"/>
    <p:sldLayoutId id="2147483808" r:id="rId22"/>
    <p:sldLayoutId id="2147483809" r:id="rId23"/>
    <p:sldLayoutId id="2147483810" r:id="rId24"/>
    <p:sldLayoutId id="2147483811" r:id="rId25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jpeg"/><Relationship Id="rId3" Type="http://schemas.openxmlformats.org/officeDocument/2006/relationships/hyperlink" Target="https://smart-lib-jain.vercel.app/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hyperlink" Target="https://smart-lib-jain.vercel.app/register" TargetMode="External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5.jpe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-lib-jain.vercel.app/login" TargetMode="External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gemini.google.com/share/01494bb15410" TargetMode="External"/><Relationship Id="rId5" Type="http://schemas.openxmlformats.org/officeDocument/2006/relationships/image" Target="../media/image13.jpeg"/><Relationship Id="rId4" Type="http://schemas.openxmlformats.org/officeDocument/2006/relationships/hyperlink" Target="https://github.com/SmartLIBJain/SmartLIB-JAIN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8707" y="9817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SMARTLIB 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08707" y="1662170"/>
            <a:ext cx="77768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Outfit Extra Bold" pitchFamily="34" charset="-120"/>
              </a:rPr>
              <a:t>College Library Management System</a:t>
            </a:r>
            <a:endParaRPr lang="en-US" sz="36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08706" y="2483232"/>
            <a:ext cx="5670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Developed by:</a:t>
            </a:r>
            <a:endParaRPr lang="en-US" sz="22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rimo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08708" y="40044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Subject: </a:t>
            </a:r>
            <a:r>
              <a:rPr lang="en-IN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Innovation &amp; Design Thinking[IBITD158]</a:t>
            </a:r>
            <a:endParaRPr lang="en-US" sz="22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08709" y="4548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Institution: </a:t>
            </a: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Jain College Of Engineering And Technology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08707" y="50931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Academic Year: </a:t>
            </a: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2025–26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9645EC6-219A-5BA5-EA45-0B2388E2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505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2A157E3-93AE-2478-D857-6B8C0521FA32}"/>
              </a:ext>
            </a:extLst>
          </p:cNvPr>
          <p:cNvSpPr/>
          <p:nvPr/>
        </p:nvSpPr>
        <p:spPr>
          <a:xfrm>
            <a:off x="6308709" y="56375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Faculty Coordinator </a:t>
            </a: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: </a:t>
            </a: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Prof. Somashekar T M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3D36D94-727F-F418-AB81-3DB95E138B68}"/>
              </a:ext>
            </a:extLst>
          </p:cNvPr>
          <p:cNvSpPr/>
          <p:nvPr/>
        </p:nvSpPr>
        <p:spPr>
          <a:xfrm>
            <a:off x="8406444" y="2497657"/>
            <a:ext cx="5670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Name: </a:t>
            </a: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Manthan T Patel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ED33D67-15C6-2E03-0278-4CAB433174C0}"/>
              </a:ext>
            </a:extLst>
          </p:cNvPr>
          <p:cNvSpPr/>
          <p:nvPr/>
        </p:nvSpPr>
        <p:spPr>
          <a:xfrm>
            <a:off x="8406446" y="2938434"/>
            <a:ext cx="5670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USN: </a:t>
            </a:r>
            <a:r>
              <a:rPr lang="en-US" sz="2200" b="1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Nirmala UI" panose="020B0502040204020203" pitchFamily="34" charset="0"/>
              </a:rPr>
              <a:t>2JH25CS061</a:t>
            </a:r>
            <a:endParaRPr lang="en-US" sz="22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rimo" pitchFamily="34" charset="-12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A2A4CEF-02F4-3538-C1B5-2EE0C834424E}"/>
              </a:ext>
            </a:extLst>
          </p:cNvPr>
          <p:cNvSpPr/>
          <p:nvPr/>
        </p:nvSpPr>
        <p:spPr>
          <a:xfrm>
            <a:off x="8406443" y="3368731"/>
            <a:ext cx="56705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Department : </a:t>
            </a: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Nirmala UI" panose="020B0502040204020203" pitchFamily="34" charset="0"/>
              </a:rPr>
              <a:t>Computer Science Engineering</a:t>
            </a:r>
            <a:endParaRPr lang="en-US" sz="22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  <a:cs typeface="Arimo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9732" y="557570"/>
            <a:ext cx="7286786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Welcome to SmartLIB 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9732" y="1495306"/>
            <a:ext cx="7724537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Your gateway to seamless library services, academic resources, and smart seat management.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32" y="2372082"/>
            <a:ext cx="1814989" cy="557570"/>
          </a:xfrm>
          <a:prstGeom prst="rect">
            <a:avLst/>
          </a:prstGeom>
        </p:spPr>
      </p:pic>
      <p:pic>
        <p:nvPicPr>
          <p:cNvPr id="6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6043" y="2372082"/>
            <a:ext cx="2252782" cy="55757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09732" y="3157776"/>
            <a:ext cx="3760827" cy="2318861"/>
          </a:xfrm>
          <a:prstGeom prst="roundRect">
            <a:avLst>
              <a:gd name="adj" fmla="val 367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20115" y="3368159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398" y="3535323"/>
            <a:ext cx="273725" cy="2737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0115" y="4179213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Seat Booking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920115" y="4617601"/>
            <a:ext cx="3340060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Reserve your study space with real-time availability.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4673322" y="3157776"/>
            <a:ext cx="3760946" cy="2318861"/>
          </a:xfrm>
          <a:prstGeom prst="roundRect">
            <a:avLst>
              <a:gd name="adj" fmla="val 367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7"/>
          <p:cNvSpPr/>
          <p:nvPr/>
        </p:nvSpPr>
        <p:spPr>
          <a:xfrm>
            <a:off x="4883706" y="3368159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50988" y="3535323"/>
            <a:ext cx="273725" cy="273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83706" y="4179213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VTU Hub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883706" y="4617601"/>
            <a:ext cx="3340179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Access question papers, notes, and official VTU portals.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09732" y="5679400"/>
            <a:ext cx="7724537" cy="1994535"/>
          </a:xfrm>
          <a:prstGeom prst="roundRect">
            <a:avLst>
              <a:gd name="adj" fmla="val 42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1"/>
          <p:cNvSpPr/>
          <p:nvPr/>
        </p:nvSpPr>
        <p:spPr>
          <a:xfrm>
            <a:off x="920115" y="5889784"/>
            <a:ext cx="608290" cy="608290"/>
          </a:xfrm>
          <a:prstGeom prst="roundRect">
            <a:avLst>
              <a:gd name="adj" fmla="val 15030800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7398" y="6056948"/>
            <a:ext cx="273725" cy="2737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20115" y="6700838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Digital ID Card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920115" y="7139226"/>
            <a:ext cx="7303770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Instant verification with your digital ID QR code.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8D6492-438E-BC0F-D06B-05CA63E0211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0631" b="23811"/>
          <a:stretch>
            <a:fillRect/>
          </a:stretch>
        </p:blipFill>
        <p:spPr>
          <a:xfrm>
            <a:off x="9138406" y="1"/>
            <a:ext cx="5491994" cy="82295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9A53B2-4C52-5E05-9F08-C544095EE2A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6535"/>
          <a:stretch>
            <a:fillRect/>
          </a:stretch>
        </p:blipFill>
        <p:spPr>
          <a:xfrm>
            <a:off x="10049590" y="5060950"/>
            <a:ext cx="824270" cy="1549402"/>
          </a:xfrm>
          <a:prstGeom prst="roundRect">
            <a:avLst>
              <a:gd name="adj" fmla="val 838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9527" y="928470"/>
            <a:ext cx="7217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Secure User Authentication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89527" y="1890325"/>
            <a:ext cx="7604284" cy="1969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Our system features a robust and secure login and registration process. It incorporates role-based access, differentiating between students and administrators to ensure data security and authorized access to specific functionalities.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89527" y="411273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Secure login and registration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89527" y="455492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Role-based access (Student, Admin)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89527" y="499712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Ensures data security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89527" y="54393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Authorized access control</a:t>
            </a:r>
            <a:endParaRPr lang="en-US" sz="22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74B154-D796-6A17-4DD0-A68911448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19" t="6318" r="1390"/>
          <a:stretch>
            <a:fillRect/>
          </a:stretch>
        </p:blipFill>
        <p:spPr>
          <a:xfrm>
            <a:off x="457556" y="411861"/>
            <a:ext cx="3504844" cy="74058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" y="319275"/>
            <a:ext cx="6085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Digital Library Catalog</a:t>
            </a:r>
            <a:endParaRPr lang="en-US" sz="4400" dirty="0">
              <a:solidFill>
                <a:srgbClr val="23197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49768" y="4056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Comprehensive List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8936" y="454660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Displays a complete, organized list of all available books.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5835681" y="4114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Detailed Information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565753" y="452782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Each entry includes title, author, category, and availability status.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0709802" y="4097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Organized Viewing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951926" y="454660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Provides an easy and structured way to browse books.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56E9DF-1FE0-6D30-9909-A0469C16B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97" t="16932" r="5221" b="12271"/>
          <a:stretch>
            <a:fillRect/>
          </a:stretch>
        </p:blipFill>
        <p:spPr>
          <a:xfrm>
            <a:off x="488079" y="1250181"/>
            <a:ext cx="4158615" cy="2570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0B6A54-E718-43F8-C878-C38E468901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60" t="22549" r="8892"/>
          <a:stretch>
            <a:fillRect/>
          </a:stretch>
        </p:blipFill>
        <p:spPr>
          <a:xfrm>
            <a:off x="5173992" y="1255198"/>
            <a:ext cx="4158615" cy="2570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5E182D-0098-12DF-BD2E-0E7D186B72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493" t="22604" r="8803" b="27911"/>
          <a:stretch>
            <a:fillRect/>
          </a:stretch>
        </p:blipFill>
        <p:spPr>
          <a:xfrm>
            <a:off x="9885460" y="1205131"/>
            <a:ext cx="4158616" cy="2576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38608030-C009-2D8B-1FF1-FEEB68176A03}"/>
              </a:ext>
            </a:extLst>
          </p:cNvPr>
          <p:cNvSpPr/>
          <p:nvPr/>
        </p:nvSpPr>
        <p:spPr>
          <a:xfrm>
            <a:off x="690598" y="5441302"/>
            <a:ext cx="7855148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AI-Based Book Recommendation</a:t>
            </a:r>
            <a:endParaRPr lang="en-US" sz="4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50BB6B4-12ED-B510-F0CD-B469A7B6A5C6}"/>
              </a:ext>
            </a:extLst>
          </p:cNvPr>
          <p:cNvSpPr/>
          <p:nvPr/>
        </p:nvSpPr>
        <p:spPr>
          <a:xfrm>
            <a:off x="586323" y="6647663"/>
            <a:ext cx="4823368" cy="1087268"/>
          </a:xfrm>
          <a:prstGeom prst="roundRect">
            <a:avLst>
              <a:gd name="adj" fmla="val 6893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D1F401B5-CD19-556B-3567-379A8DBF8D90}"/>
              </a:ext>
            </a:extLst>
          </p:cNvPr>
          <p:cNvSpPr/>
          <p:nvPr/>
        </p:nvSpPr>
        <p:spPr>
          <a:xfrm>
            <a:off x="586323" y="6569299"/>
            <a:ext cx="4823368" cy="165681"/>
          </a:xfrm>
          <a:prstGeom prst="roundRect">
            <a:avLst>
              <a:gd name="adj" fmla="val 9408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2B08C5D1-3301-7335-060B-1421C9E62DD8}"/>
              </a:ext>
            </a:extLst>
          </p:cNvPr>
          <p:cNvSpPr/>
          <p:nvPr/>
        </p:nvSpPr>
        <p:spPr>
          <a:xfrm>
            <a:off x="2623476" y="6307190"/>
            <a:ext cx="569537" cy="550436"/>
          </a:xfrm>
          <a:prstGeom prst="roundRect">
            <a:avLst>
              <a:gd name="adj" fmla="val 148808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76A14468-E130-D32D-FC77-80F52F383C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7211" y="6476468"/>
            <a:ext cx="245745" cy="245745"/>
          </a:xfrm>
          <a:prstGeom prst="rect">
            <a:avLst/>
          </a:prstGeom>
        </p:spPr>
      </p:pic>
      <p:sp>
        <p:nvSpPr>
          <p:cNvPr id="27" name="Text 10">
            <a:extLst>
              <a:ext uri="{FF2B5EF4-FFF2-40B4-BE49-F238E27FC236}">
                <a16:creationId xmlns:a16="http://schemas.microsoft.com/office/drawing/2014/main" id="{53221E8D-E67D-D0B8-086B-66D6671808FF}"/>
              </a:ext>
            </a:extLst>
          </p:cNvPr>
          <p:cNvSpPr/>
          <p:nvPr/>
        </p:nvSpPr>
        <p:spPr>
          <a:xfrm>
            <a:off x="730485" y="6870329"/>
            <a:ext cx="2748803" cy="27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Reading Preferences</a:t>
            </a:r>
            <a:endParaRPr lang="en-US" sz="2200" dirty="0">
              <a:solidFill>
                <a:srgbClr val="23197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4889289-F70B-08ED-2B10-E719A870E3BE}"/>
              </a:ext>
            </a:extLst>
          </p:cNvPr>
          <p:cNvSpPr/>
          <p:nvPr/>
        </p:nvSpPr>
        <p:spPr>
          <a:xfrm>
            <a:off x="747419" y="7275129"/>
            <a:ext cx="4548511" cy="280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Suggestions based on past reads and interests.</a:t>
            </a:r>
            <a:endParaRPr lang="en-US" sz="16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18CD7E-0034-E22F-4292-3B36D4F8E05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187" t="39468" r="52715" b="9043"/>
          <a:stretch>
            <a:fillRect/>
          </a:stretch>
        </p:blipFill>
        <p:spPr>
          <a:xfrm>
            <a:off x="6230131" y="6140224"/>
            <a:ext cx="1953037" cy="1974454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32" name="Shape 7">
            <a:extLst>
              <a:ext uri="{FF2B5EF4-FFF2-40B4-BE49-F238E27FC236}">
                <a16:creationId xmlns:a16="http://schemas.microsoft.com/office/drawing/2014/main" id="{9E1FF18A-531B-E017-71C6-4F54FD007038}"/>
              </a:ext>
            </a:extLst>
          </p:cNvPr>
          <p:cNvSpPr/>
          <p:nvPr/>
        </p:nvSpPr>
        <p:spPr>
          <a:xfrm>
            <a:off x="9267887" y="6760232"/>
            <a:ext cx="5149531" cy="1087268"/>
          </a:xfrm>
          <a:prstGeom prst="roundRect">
            <a:avLst>
              <a:gd name="adj" fmla="val 6893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D3F7DF20-9FBD-5941-235C-277E17E53B9B}"/>
              </a:ext>
            </a:extLst>
          </p:cNvPr>
          <p:cNvSpPr/>
          <p:nvPr/>
        </p:nvSpPr>
        <p:spPr>
          <a:xfrm>
            <a:off x="9267887" y="6681869"/>
            <a:ext cx="5149531" cy="133176"/>
          </a:xfrm>
          <a:prstGeom prst="roundRect">
            <a:avLst>
              <a:gd name="adj" fmla="val 9408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938CF44F-3547-03D1-E178-867A3B1C9228}"/>
              </a:ext>
            </a:extLst>
          </p:cNvPr>
          <p:cNvSpPr/>
          <p:nvPr/>
        </p:nvSpPr>
        <p:spPr>
          <a:xfrm>
            <a:off x="11557883" y="6431268"/>
            <a:ext cx="569537" cy="550436"/>
          </a:xfrm>
          <a:prstGeom prst="roundRect">
            <a:avLst>
              <a:gd name="adj" fmla="val 148808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3B3A377-0A50-7093-78A6-B3FB2498321B}"/>
              </a:ext>
            </a:extLst>
          </p:cNvPr>
          <p:cNvSpPr/>
          <p:nvPr/>
        </p:nvSpPr>
        <p:spPr>
          <a:xfrm>
            <a:off x="9456468" y="6877942"/>
            <a:ext cx="2748803" cy="27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2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Academic Profile</a:t>
            </a:r>
            <a:endParaRPr lang="en-US" sz="2200" dirty="0">
              <a:solidFill>
                <a:srgbClr val="23197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9472172-F794-D3B5-E087-87A2C57578B0}"/>
              </a:ext>
            </a:extLst>
          </p:cNvPr>
          <p:cNvSpPr/>
          <p:nvPr/>
        </p:nvSpPr>
        <p:spPr>
          <a:xfrm>
            <a:off x="9456468" y="7191297"/>
            <a:ext cx="5149530" cy="610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Recommendations tailored to courses and </a:t>
            </a:r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study areas.</a:t>
            </a:r>
            <a:endParaRPr lang="en-US" sz="16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462DB158-36C9-7C16-556A-8A4CFE262D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17249" y="6599341"/>
            <a:ext cx="245745" cy="245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182" y="420042"/>
            <a:ext cx="9381082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Real-time Seat Availability Tracking</a:t>
            </a:r>
            <a:endParaRPr lang="en-US" sz="4400" dirty="0">
              <a:solidFill>
                <a:srgbClr val="23197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8329" y="1176112"/>
            <a:ext cx="9259935" cy="200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Our innovative feature displays real-time library seat availability, allowing students to check seating options before entering the library. This helps prevent overcrowding and ensures a comfortable study environment for everyone.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8329" y="2185804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Live updates on seat status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8329" y="2560731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Helps students plan their visit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8329" y="2935659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Prevents library overcrowding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8329" y="3310587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Optimizes study space usage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5764B-61E0-64C9-2A39-1558DFB42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15" b="6692"/>
          <a:stretch>
            <a:fillRect/>
          </a:stretch>
        </p:blipFill>
        <p:spPr>
          <a:xfrm>
            <a:off x="11198468" y="267631"/>
            <a:ext cx="2835236" cy="5504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A93BF865-FC42-9D7D-5034-DA15AA897D32}"/>
              </a:ext>
            </a:extLst>
          </p:cNvPr>
          <p:cNvSpPr/>
          <p:nvPr/>
        </p:nvSpPr>
        <p:spPr>
          <a:xfrm>
            <a:off x="4852501" y="4447912"/>
            <a:ext cx="9381082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Library in Your Pocket</a:t>
            </a:r>
            <a:endParaRPr lang="en-IN" sz="4400" dirty="0">
              <a:solidFill>
                <a:srgbClr val="231971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568FC94-F39B-CA88-1132-15727B11D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2694" y="5297787"/>
            <a:ext cx="340162" cy="340162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4BF61997-6EE2-D5B2-DFCD-E4624858F354}"/>
              </a:ext>
            </a:extLst>
          </p:cNvPr>
          <p:cNvSpPr/>
          <p:nvPr/>
        </p:nvSpPr>
        <p:spPr>
          <a:xfrm>
            <a:off x="6034799" y="52907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Easy Access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90607DE-F822-BC80-E87F-08EB62900334}"/>
              </a:ext>
            </a:extLst>
          </p:cNvPr>
          <p:cNvSpPr/>
          <p:nvPr/>
        </p:nvSpPr>
        <p:spPr>
          <a:xfrm>
            <a:off x="6034800" y="5645092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Connect to library services anytime, anywhere.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9E8BA55F-87D5-F06C-099F-B5D262D67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2694" y="6173702"/>
            <a:ext cx="340162" cy="340162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BC4DC3F1-48C2-0482-4DE1-11E5087F9E10}"/>
              </a:ext>
            </a:extLst>
          </p:cNvPr>
          <p:cNvSpPr/>
          <p:nvPr/>
        </p:nvSpPr>
        <p:spPr>
          <a:xfrm>
            <a:off x="6034799" y="61666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Improved Usability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98ADDFC7-185A-A88E-F70F-11F72FF09C5E}"/>
              </a:ext>
            </a:extLst>
          </p:cNvPr>
          <p:cNvSpPr/>
          <p:nvPr/>
        </p:nvSpPr>
        <p:spPr>
          <a:xfrm>
            <a:off x="6034799" y="6514128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Streamlined experience for students and staff on the go.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8A46E3E-460F-48B7-0F54-51AB35D1DB81}"/>
              </a:ext>
            </a:extLst>
          </p:cNvPr>
          <p:cNvSpPr/>
          <p:nvPr/>
        </p:nvSpPr>
        <p:spPr>
          <a:xfrm>
            <a:off x="4938534" y="69232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This ensures continuous engagement and convenience for all users.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5E12F8-FEEF-2045-641F-91F2C4689D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958" b="5548"/>
          <a:stretch>
            <a:fillRect/>
          </a:stretch>
        </p:blipFill>
        <p:spPr>
          <a:xfrm>
            <a:off x="1046396" y="4429190"/>
            <a:ext cx="3333135" cy="3383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2299"/>
            <a:ext cx="65049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Online Book Reservation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3012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Outfit Light" pitchFamily="34" charset="-120"/>
              </a:rPr>
              <a:t>01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2656284"/>
            <a:ext cx="3664744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80190" y="2830592"/>
            <a:ext cx="2959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Prevent Unavailability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3321010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Secure your desired books before they are checked out.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71748" y="230124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Outfit Light" pitchFamily="34" charset="-120"/>
              </a:rPr>
              <a:t>02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171748" y="2656284"/>
            <a:ext cx="3664863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171748" y="28305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Real-time Updates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71748" y="3321010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Monitor your reservation status instantly.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80190" y="44436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Outfit Light" pitchFamily="34" charset="-120"/>
              </a:rPr>
              <a:t>03</a:t>
            </a:r>
            <a:endParaRPr lang="en-US" sz="175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80190" y="4798695"/>
            <a:ext cx="7556421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80190" y="4973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Reduce Waiting Time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80190" y="54634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Minimize queues and maximize efficiency at the library counter.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0190" y="62514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Students can reserve books online, ensuring they get the resources they need without hassle.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5E339B-509C-08F6-4863-BF80C7F156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6" r="33245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266" y="749498"/>
            <a:ext cx="7941469" cy="1073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VTU Hub: Your Academic Resource Center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1266" y="2080617"/>
            <a:ext cx="7941469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The VTU Hub is a dedicated portal within SmartLIB , providing essential academic resources for students.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1266" y="2823448"/>
            <a:ext cx="7941469" cy="1035368"/>
          </a:xfrm>
          <a:prstGeom prst="roundRect">
            <a:avLst>
              <a:gd name="adj" fmla="val 696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5814" y="3017996"/>
            <a:ext cx="2147292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Question Papers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5814" y="3389471"/>
            <a:ext cx="755237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Access previous year's examination papers for practice.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1266" y="4030504"/>
            <a:ext cx="7941469" cy="1035368"/>
          </a:xfrm>
          <a:prstGeom prst="roundRect">
            <a:avLst>
              <a:gd name="adj" fmla="val 696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95814" y="4225052"/>
            <a:ext cx="239399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Notes &amp; Study Materials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5814" y="4596527"/>
            <a:ext cx="755237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Comprehensive notes and supplementary materials for various subjects.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1266" y="5237559"/>
            <a:ext cx="7941469" cy="1035368"/>
          </a:xfrm>
          <a:prstGeom prst="roundRect">
            <a:avLst>
              <a:gd name="adj" fmla="val 696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95814" y="5432107"/>
            <a:ext cx="2147292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Lab Manuals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814" y="5803583"/>
            <a:ext cx="755237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Detailed guides for practical laboratory sessions.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1266" y="6444615"/>
            <a:ext cx="7941469" cy="1035368"/>
          </a:xfrm>
          <a:prstGeom prst="roundRect">
            <a:avLst>
              <a:gd name="adj" fmla="val 696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95814" y="6639163"/>
            <a:ext cx="2147292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Official VTU Portals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5814" y="7010638"/>
            <a:ext cx="7552373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Direct links to official Visvesvaraya Technological University resources.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E6AFCF-117B-A0AA-8ADB-E14BCC4BB1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25" r="27566"/>
          <a:stretch>
            <a:fillRect/>
          </a:stretch>
        </p:blipFill>
        <p:spPr>
          <a:xfrm>
            <a:off x="9144001" y="-5262"/>
            <a:ext cx="5486400" cy="8234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4143" y="600313"/>
            <a:ext cx="7615714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Personalized Student Dashboard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64143" y="2292191"/>
            <a:ext cx="7615714" cy="1318855"/>
          </a:xfrm>
          <a:prstGeom prst="roundRect">
            <a:avLst>
              <a:gd name="adj" fmla="val 1109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33663" y="2292191"/>
            <a:ext cx="121920" cy="1318855"/>
          </a:xfrm>
          <a:prstGeom prst="roundRect">
            <a:avLst>
              <a:gd name="adj" fmla="val 75212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04305" y="2540913"/>
            <a:ext cx="272903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Issued Books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04305" y="3012996"/>
            <a:ext cx="7026831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View a list of all books currently checked out.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4143" y="3829288"/>
            <a:ext cx="7615714" cy="1318855"/>
          </a:xfrm>
          <a:prstGeom prst="roundRect">
            <a:avLst>
              <a:gd name="adj" fmla="val 1109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33663" y="3829288"/>
            <a:ext cx="121920" cy="1318855"/>
          </a:xfrm>
          <a:prstGeom prst="roundRect">
            <a:avLst>
              <a:gd name="adj" fmla="val 75212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04305" y="4078010"/>
            <a:ext cx="272903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Due Dates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04305" y="4550093"/>
            <a:ext cx="7026831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Keep track of upcoming return deadlines.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4143" y="5366385"/>
            <a:ext cx="7615714" cy="1318855"/>
          </a:xfrm>
          <a:prstGeom prst="roundRect">
            <a:avLst>
              <a:gd name="adj" fmla="val 1109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33663" y="5366385"/>
            <a:ext cx="121920" cy="1318855"/>
          </a:xfrm>
          <a:prstGeom prst="roundRect">
            <a:avLst>
              <a:gd name="adj" fmla="val 75212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04305" y="5615107"/>
            <a:ext cx="272903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Seat Status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04305" y="6087189"/>
            <a:ext cx="7026831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Monitor your reserved seat information.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4142" y="6930747"/>
            <a:ext cx="8379857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Each student receives a personalized dashboard, offering a simple and user-friendly interface to manage their library activities and stay informed.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A38EE4-228D-623F-5485-2F738B9C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85" r="3970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71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2276" y="3181945"/>
            <a:ext cx="8955524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Admin Dashboard: Centralized Control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62276" y="4096345"/>
            <a:ext cx="6153983" cy="1501259"/>
          </a:xfrm>
          <a:prstGeom prst="roundRect">
            <a:avLst>
              <a:gd name="adj" fmla="val 730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039416" y="4096345"/>
            <a:ext cx="91440" cy="1501259"/>
          </a:xfrm>
          <a:prstGeom prst="roundRect">
            <a:avLst>
              <a:gd name="adj" fmla="val 9081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351359" y="4316849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Manage Users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51359" y="4744403"/>
            <a:ext cx="564439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Oversee student and staff accounts, permissions, and </a:t>
            </a:r>
          </a:p>
          <a:p>
            <a:r>
              <a:rPr lang="en-US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activity.</a:t>
            </a:r>
            <a:endParaRPr lang="en-IN" dirty="0">
              <a:effectLst/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13903" y="4096345"/>
            <a:ext cx="6154103" cy="1501259"/>
          </a:xfrm>
          <a:prstGeom prst="roundRect">
            <a:avLst>
              <a:gd name="adj" fmla="val 730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391043" y="4096345"/>
            <a:ext cx="91440" cy="1501259"/>
          </a:xfrm>
          <a:prstGeom prst="roundRect">
            <a:avLst>
              <a:gd name="adj" fmla="val 9081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702987" y="4316849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Update Book Details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02987" y="4744403"/>
            <a:ext cx="5644515" cy="12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Maintain accurate and current information for all library resources.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62276" y="5795248"/>
            <a:ext cx="6153983" cy="1184910"/>
          </a:xfrm>
          <a:prstGeom prst="roundRect">
            <a:avLst>
              <a:gd name="adj" fmla="val 926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039416" y="5795248"/>
            <a:ext cx="91440" cy="1184910"/>
          </a:xfrm>
          <a:prstGeom prst="roundRect">
            <a:avLst>
              <a:gd name="adj" fmla="val 9081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351359" y="6015752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Delete Book Records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51359" y="6443305"/>
            <a:ext cx="564439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Remove outdated or lost book entries with ease.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13903" y="5795248"/>
            <a:ext cx="6154103" cy="1184910"/>
          </a:xfrm>
          <a:prstGeom prst="roundRect">
            <a:avLst>
              <a:gd name="adj" fmla="val 9260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391043" y="5795248"/>
            <a:ext cx="91440" cy="1184910"/>
          </a:xfrm>
          <a:prstGeom prst="roundRect">
            <a:avLst>
              <a:gd name="adj" fmla="val 90816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702987" y="6015752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Add New Books</a:t>
            </a:r>
            <a:endParaRPr lang="en-IN" sz="2200" dirty="0">
              <a:solidFill>
                <a:srgbClr val="2A274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46522" y="6428353"/>
            <a:ext cx="5865019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Efficiently catalog new additions to the library collection.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62276" y="7202567"/>
            <a:ext cx="1250573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The admin dashboard provides comprehensive control over all library data and operations.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7F3C78-3CCB-6785-DDD2-0DEE5F54B1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24824" r="5018" b="30922"/>
          <a:stretch>
            <a:fillRect/>
          </a:stretch>
        </p:blipFill>
        <p:spPr>
          <a:xfrm>
            <a:off x="2569847" y="0"/>
            <a:ext cx="9490587" cy="2471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9472"/>
            <a:ext cx="10089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Technologies Powering SmartLIB</a:t>
            </a:r>
            <a:endParaRPr lang="en-US" sz="4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51879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Frontend: React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Dynamic and responsive user interfaces.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651879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Backend: Supabase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Robust and scalable backend services.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651879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615809"/>
            <a:ext cx="3038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Database: PostgreSQL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7995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Reliable and powerful data storage.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886688"/>
            <a:ext cx="4145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Mobile App: Web-to-App (APK)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93790" y="63771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Seamless mobile experience.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22758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Hosting: Vercel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235893" y="63771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Fast and efficient deployment.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79756" y="1530073"/>
            <a:ext cx="13052848" cy="2313986"/>
          </a:xfrm>
          <a:prstGeom prst="roundRect">
            <a:avLst>
              <a:gd name="adj" fmla="val 318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89844" y="2797969"/>
            <a:ext cx="6510108" cy="1022151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801410" y="433866"/>
            <a:ext cx="9014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Key Advantages of SmartLIB</a:t>
            </a:r>
            <a:endParaRPr lang="en-US" sz="4000" dirty="0">
              <a:solidFill>
                <a:srgbClr val="23197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9844" y="1530072"/>
            <a:ext cx="4339993" cy="1304892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6658" y="17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Web &amp; Mobile Access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6658" y="2247304"/>
            <a:ext cx="35486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Flexible access from any device.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32292" y="1530072"/>
            <a:ext cx="4340112" cy="1282897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17114" y="1530072"/>
            <a:ext cx="60896" cy="133502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41211" y="1843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Online Reservation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12906" y="2232816"/>
            <a:ext cx="37451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Convenient book booking system.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63591" y="1834420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5728" y="1979143"/>
            <a:ext cx="283488" cy="2834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74858" y="1530072"/>
            <a:ext cx="4342567" cy="1303382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374857" y="1530072"/>
            <a:ext cx="45719" cy="13661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840235" y="1785914"/>
            <a:ext cx="3086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Paperless &amp; Automated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840235" y="2261818"/>
            <a:ext cx="4802469" cy="69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Eco-friendly and efficient operations.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8167" y="189308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2104" y="2034830"/>
            <a:ext cx="283488" cy="2834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89844" y="2850091"/>
            <a:ext cx="6555704" cy="46162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72664" y="2963523"/>
            <a:ext cx="3124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User-Friendly Interface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72664" y="3294288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Intuitive design for all users.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249232" y="2865091"/>
            <a:ext cx="6464509" cy="967893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7199829" y="2865092"/>
            <a:ext cx="45719" cy="978968"/>
          </a:xfrm>
          <a:prstGeom prst="roundRect">
            <a:avLst>
              <a:gd name="adj" fmla="val 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076123" y="2850533"/>
            <a:ext cx="6656481" cy="45719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859315" y="2976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Time-Saving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859315" y="3336012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Reduces administrative and user wait times.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929162" y="3031959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6123" y="3160103"/>
            <a:ext cx="283488" cy="283488"/>
          </a:xfrm>
          <a:prstGeom prst="rect">
            <a:avLst/>
          </a:prstGeom>
        </p:spPr>
      </p:pic>
      <p:sp>
        <p:nvSpPr>
          <p:cNvPr id="58" name="Shape 1">
            <a:extLst>
              <a:ext uri="{FF2B5EF4-FFF2-40B4-BE49-F238E27FC236}">
                <a16:creationId xmlns:a16="http://schemas.microsoft.com/office/drawing/2014/main" id="{F99A7F3A-56D4-67DB-9C88-FDFE4526C2AA}"/>
              </a:ext>
            </a:extLst>
          </p:cNvPr>
          <p:cNvSpPr/>
          <p:nvPr/>
        </p:nvSpPr>
        <p:spPr>
          <a:xfrm>
            <a:off x="679756" y="5416631"/>
            <a:ext cx="13052848" cy="2313986"/>
          </a:xfrm>
          <a:prstGeom prst="roundRect">
            <a:avLst>
              <a:gd name="adj" fmla="val 318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6AAF995D-40FC-E03D-2B17-784CFA282BE0}"/>
              </a:ext>
            </a:extLst>
          </p:cNvPr>
          <p:cNvSpPr/>
          <p:nvPr/>
        </p:nvSpPr>
        <p:spPr>
          <a:xfrm>
            <a:off x="689844" y="6684527"/>
            <a:ext cx="6510108" cy="1022151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AC7E0BAE-02AD-3167-8B00-1A5A47DEB549}"/>
              </a:ext>
            </a:extLst>
          </p:cNvPr>
          <p:cNvSpPr/>
          <p:nvPr/>
        </p:nvSpPr>
        <p:spPr>
          <a:xfrm>
            <a:off x="689844" y="5416630"/>
            <a:ext cx="4339993" cy="1304892"/>
          </a:xfrm>
          <a:prstGeom prst="roundRect">
            <a:avLst>
              <a:gd name="adj" fmla="val 5705"/>
            </a:avLst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1A64E74B-852A-68A7-B28D-F364155D9C50}"/>
              </a:ext>
            </a:extLst>
          </p:cNvPr>
          <p:cNvSpPr/>
          <p:nvPr/>
        </p:nvSpPr>
        <p:spPr>
          <a:xfrm>
            <a:off x="898729" y="5643443"/>
            <a:ext cx="3714453" cy="40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QR Code Based Book Issue &amp; </a:t>
            </a:r>
          </a:p>
          <a:p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Return</a:t>
            </a:r>
            <a:endParaRPr lang="en-IN" sz="2200" dirty="0">
              <a:solidFill>
                <a:srgbClr val="2A2742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4386694A-7F6C-B0CB-5CC4-82B125014309}"/>
              </a:ext>
            </a:extLst>
          </p:cNvPr>
          <p:cNvSpPr/>
          <p:nvPr/>
        </p:nvSpPr>
        <p:spPr>
          <a:xfrm>
            <a:off x="916658" y="6324362"/>
            <a:ext cx="3798760" cy="46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Faster transactions using QR scanning.</a:t>
            </a:r>
            <a:endParaRPr lang="en-IN" sz="1700" dirty="0">
              <a:solidFill>
                <a:srgbClr val="2A2742"/>
              </a:solidFill>
              <a:effectLst/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42690887-13B1-A3AC-6AB9-A685B085F998}"/>
              </a:ext>
            </a:extLst>
          </p:cNvPr>
          <p:cNvSpPr/>
          <p:nvPr/>
        </p:nvSpPr>
        <p:spPr>
          <a:xfrm>
            <a:off x="5032292" y="5416630"/>
            <a:ext cx="4340112" cy="1282897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F8D785BA-7080-2E60-56F0-1A914CD0B0FC}"/>
              </a:ext>
            </a:extLst>
          </p:cNvPr>
          <p:cNvSpPr/>
          <p:nvPr/>
        </p:nvSpPr>
        <p:spPr>
          <a:xfrm>
            <a:off x="5029836" y="5416630"/>
            <a:ext cx="48173" cy="133502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547AF41D-33C2-CE54-8ABE-B3B6DEF51A33}"/>
              </a:ext>
            </a:extLst>
          </p:cNvPr>
          <p:cNvSpPr/>
          <p:nvPr/>
        </p:nvSpPr>
        <p:spPr>
          <a:xfrm>
            <a:off x="5505353" y="57125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Online Fine Payment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4E4D26AB-164E-58DA-43A3-27B379E47EC6}"/>
              </a:ext>
            </a:extLst>
          </p:cNvPr>
          <p:cNvSpPr/>
          <p:nvPr/>
        </p:nvSpPr>
        <p:spPr>
          <a:xfrm>
            <a:off x="5512906" y="6101445"/>
            <a:ext cx="36851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7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Automated fine calculation with UPI/online payment.</a:t>
            </a:r>
            <a:endParaRPr lang="en-US" sz="17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051B9947-B9F1-D163-9623-7DC16029FDF9}"/>
              </a:ext>
            </a:extLst>
          </p:cNvPr>
          <p:cNvSpPr/>
          <p:nvPr/>
        </p:nvSpPr>
        <p:spPr>
          <a:xfrm>
            <a:off x="4748804" y="5804455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2</a:t>
            </a:r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A13B1237-D926-4EB7-6EED-CB7BAA63F9BE}"/>
              </a:ext>
            </a:extLst>
          </p:cNvPr>
          <p:cNvSpPr/>
          <p:nvPr/>
        </p:nvSpPr>
        <p:spPr>
          <a:xfrm>
            <a:off x="9374858" y="5416630"/>
            <a:ext cx="4342567" cy="1303382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972F352B-67A4-CFF3-EFFC-285292CEA212}"/>
              </a:ext>
            </a:extLst>
          </p:cNvPr>
          <p:cNvSpPr/>
          <p:nvPr/>
        </p:nvSpPr>
        <p:spPr>
          <a:xfrm>
            <a:off x="9374857" y="5416630"/>
            <a:ext cx="45719" cy="13661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0D2E22B9-A826-9F36-53A2-8CED37BADB02}"/>
              </a:ext>
            </a:extLst>
          </p:cNvPr>
          <p:cNvSpPr/>
          <p:nvPr/>
        </p:nvSpPr>
        <p:spPr>
          <a:xfrm>
            <a:off x="9840235" y="5729810"/>
            <a:ext cx="3086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RFID Integration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D74E44A2-9CED-39D5-9C60-DF29D2A520CD}"/>
              </a:ext>
            </a:extLst>
          </p:cNvPr>
          <p:cNvSpPr/>
          <p:nvPr/>
        </p:nvSpPr>
        <p:spPr>
          <a:xfrm>
            <a:off x="9840235" y="6168916"/>
            <a:ext cx="4802469" cy="69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7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Improved book tracking and security.</a:t>
            </a:r>
            <a:endParaRPr lang="en-US" sz="17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51C9B4C9-A81F-151E-F5FA-9A285BB21583}"/>
              </a:ext>
            </a:extLst>
          </p:cNvPr>
          <p:cNvSpPr/>
          <p:nvPr/>
        </p:nvSpPr>
        <p:spPr>
          <a:xfrm>
            <a:off x="9098167" y="5779644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3</a:t>
            </a: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C27DC656-92D9-9A12-604C-E7BB376BD837}"/>
              </a:ext>
            </a:extLst>
          </p:cNvPr>
          <p:cNvSpPr/>
          <p:nvPr/>
        </p:nvSpPr>
        <p:spPr>
          <a:xfrm>
            <a:off x="689844" y="6736649"/>
            <a:ext cx="6555704" cy="46162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8BFC7D35-6404-2A16-0F0E-886067ED0093}"/>
              </a:ext>
            </a:extLst>
          </p:cNvPr>
          <p:cNvSpPr/>
          <p:nvPr/>
        </p:nvSpPr>
        <p:spPr>
          <a:xfrm>
            <a:off x="872664" y="6869495"/>
            <a:ext cx="4033064" cy="38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30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Enhanced AI Recommendation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8B04D4B5-8C0E-9F1D-BC55-F5C17E57E4DE}"/>
              </a:ext>
            </a:extLst>
          </p:cNvPr>
          <p:cNvSpPr/>
          <p:nvPr/>
        </p:nvSpPr>
        <p:spPr>
          <a:xfrm>
            <a:off x="518456" y="7236844"/>
            <a:ext cx="6229117" cy="489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350"/>
              </a:lnSpc>
            </a:pPr>
            <a:r>
              <a:rPr lang="en-US" sz="170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More accurate recommendations via user behavior analysis.</a:t>
            </a:r>
            <a:endParaRPr lang="en-US" sz="1700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476CAA54-01A2-4476-FBF5-7E7451C10017}"/>
              </a:ext>
            </a:extLst>
          </p:cNvPr>
          <p:cNvSpPr/>
          <p:nvPr/>
        </p:nvSpPr>
        <p:spPr>
          <a:xfrm>
            <a:off x="7249232" y="6751649"/>
            <a:ext cx="6464509" cy="967893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4C879969-BB7B-9FD0-BC91-8217AAE19FBD}"/>
              </a:ext>
            </a:extLst>
          </p:cNvPr>
          <p:cNvSpPr/>
          <p:nvPr/>
        </p:nvSpPr>
        <p:spPr>
          <a:xfrm>
            <a:off x="7199829" y="6751650"/>
            <a:ext cx="45719" cy="978968"/>
          </a:xfrm>
          <a:prstGeom prst="roundRect">
            <a:avLst>
              <a:gd name="adj" fmla="val 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EF5BCE2D-0CE7-40A3-E08D-2CABB39EE6EF}"/>
              </a:ext>
            </a:extLst>
          </p:cNvPr>
          <p:cNvSpPr/>
          <p:nvPr/>
        </p:nvSpPr>
        <p:spPr>
          <a:xfrm>
            <a:off x="7076123" y="6737091"/>
            <a:ext cx="6656481" cy="45719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F39D119D-B929-44CA-13D5-908C923A128F}"/>
              </a:ext>
            </a:extLst>
          </p:cNvPr>
          <p:cNvSpPr/>
          <p:nvPr/>
        </p:nvSpPr>
        <p:spPr>
          <a:xfrm>
            <a:off x="7859315" y="69009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Multi-Library Support</a:t>
            </a:r>
            <a:endParaRPr lang="en-US" sz="2200" dirty="0">
              <a:solidFill>
                <a:srgbClr val="2A2742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48D41D30-32C4-D666-0560-FFE8198FB040}"/>
              </a:ext>
            </a:extLst>
          </p:cNvPr>
          <p:cNvSpPr/>
          <p:nvPr/>
        </p:nvSpPr>
        <p:spPr>
          <a:xfrm>
            <a:off x="7859315" y="7259232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Manage multiple libraries under one system.</a:t>
            </a:r>
            <a:endParaRPr lang="en-US" dirty="0">
              <a:solidFill>
                <a:srgbClr val="2A274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2791CF63-C121-5D76-645D-1385C8EB6160}"/>
              </a:ext>
            </a:extLst>
          </p:cNvPr>
          <p:cNvSpPr/>
          <p:nvPr/>
        </p:nvSpPr>
        <p:spPr>
          <a:xfrm>
            <a:off x="6929162" y="6918517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pPr algn="ctr"/>
            <a:r>
              <a:rPr lang="en-I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5</a:t>
            </a:r>
          </a:p>
        </p:txBody>
      </p:sp>
      <p:sp>
        <p:nvSpPr>
          <p:cNvPr id="85" name="Text 0">
            <a:extLst>
              <a:ext uri="{FF2B5EF4-FFF2-40B4-BE49-F238E27FC236}">
                <a16:creationId xmlns:a16="http://schemas.microsoft.com/office/drawing/2014/main" id="{34414566-1B63-465D-D69C-64A94F34B7CD}"/>
              </a:ext>
            </a:extLst>
          </p:cNvPr>
          <p:cNvSpPr/>
          <p:nvPr/>
        </p:nvSpPr>
        <p:spPr>
          <a:xfrm>
            <a:off x="74492" y="4370919"/>
            <a:ext cx="14296391" cy="687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Future Enhancements: Innovating Tomorrow's Library</a:t>
            </a:r>
            <a:endParaRPr lang="en-US" sz="40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98651"/>
            <a:ext cx="58400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8900" b="1" dirty="0">
                <a:solidFill>
                  <a:srgbClr val="23197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Thank You!</a:t>
            </a:r>
            <a:endParaRPr lang="en-US" sz="89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8314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Questions or interested in exploring SmartLIB?</a:t>
            </a:r>
            <a:endParaRPr lang="en-US" sz="175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405532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51084" y="26628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Website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084" y="3153244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231971"/>
                </a:solidFill>
                <a:highlight>
                  <a:srgbClr val="00FFFF"/>
                </a:highlight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https://smart-lib-jain.vercel.app/login</a:t>
            </a:r>
            <a:endParaRPr lang="en-US" sz="1750" dirty="0">
              <a:solidFill>
                <a:srgbClr val="231971"/>
              </a:solidFill>
              <a:highlight>
                <a:srgbClr val="00FFFF"/>
              </a:highlight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5348" y="2405532"/>
            <a:ext cx="3664863" cy="1730812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942642" y="26628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Code Repository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42642" y="3153244"/>
            <a:ext cx="3150275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u="sng" dirty="0">
                <a:solidFill>
                  <a:srgbClr val="231971"/>
                </a:solidFill>
                <a:highlight>
                  <a:srgbClr val="00FFFF"/>
                </a:highlight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https://github.com/SmartLIBJain/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u="sng" dirty="0" err="1">
                <a:solidFill>
                  <a:srgbClr val="231971"/>
                </a:solidFill>
                <a:highlight>
                  <a:srgbClr val="00FFFF"/>
                </a:highlight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SmartLIB-JAIN.git</a:t>
            </a:r>
            <a:endParaRPr lang="en-US" sz="1600" dirty="0">
              <a:solidFill>
                <a:srgbClr val="231971"/>
              </a:solidFill>
              <a:highlight>
                <a:srgbClr val="00FFFF"/>
              </a:highlight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89" y="75907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</a:rPr>
              <a:t>Contact us for demos or access.</a:t>
            </a:r>
            <a:endParaRPr lang="en-US" sz="175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1FBE2B-98FE-C40D-17C4-A5A427FE27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631" b="23811"/>
          <a:stretch>
            <a:fillRect/>
          </a:stretch>
        </p:blipFill>
        <p:spPr>
          <a:xfrm>
            <a:off x="9156335" y="0"/>
            <a:ext cx="5474065" cy="8229599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77A87ED7-8306-9E69-4C47-44B9DA34C7B9}"/>
              </a:ext>
            </a:extLst>
          </p:cNvPr>
          <p:cNvSpPr/>
          <p:nvPr/>
        </p:nvSpPr>
        <p:spPr>
          <a:xfrm>
            <a:off x="793790" y="4393638"/>
            <a:ext cx="3664744" cy="3015635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501658A-D0D7-A1BC-AF76-8869BB318418}"/>
              </a:ext>
            </a:extLst>
          </p:cNvPr>
          <p:cNvSpPr/>
          <p:nvPr/>
        </p:nvSpPr>
        <p:spPr>
          <a:xfrm>
            <a:off x="4685467" y="4393638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077E93F-DA65-3AAF-8217-1719F9BBDBDD}"/>
              </a:ext>
            </a:extLst>
          </p:cNvPr>
          <p:cNvSpPr/>
          <p:nvPr/>
        </p:nvSpPr>
        <p:spPr>
          <a:xfrm>
            <a:off x="1051084" y="4655245"/>
            <a:ext cx="3150156" cy="34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Scan to Download APK 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41127AE-3312-C2A0-3080-367C03AD85B9}"/>
              </a:ext>
            </a:extLst>
          </p:cNvPr>
          <p:cNvSpPr/>
          <p:nvPr/>
        </p:nvSpPr>
        <p:spPr>
          <a:xfrm>
            <a:off x="4942641" y="46552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Gemini Canva Design</a:t>
            </a:r>
            <a:endParaRPr lang="en-US" sz="2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539EB76-34FB-E179-D8BC-DB4FD661DBE8}"/>
              </a:ext>
            </a:extLst>
          </p:cNvPr>
          <p:cNvSpPr/>
          <p:nvPr/>
        </p:nvSpPr>
        <p:spPr>
          <a:xfrm>
            <a:off x="4942641" y="5137728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231971"/>
                </a:solidFill>
                <a:highlight>
                  <a:srgbClr val="00FFFF"/>
                </a:highlight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https://gemini.google.com/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231971"/>
                </a:solidFill>
                <a:highlight>
                  <a:srgbClr val="00FFFF"/>
                </a:highlight>
                <a:latin typeface="Yu Gothic UI Semibold" panose="020B0700000000000000" pitchFamily="34" charset="-128"/>
                <a:ea typeface="Yu Gothic UI Semibold" panose="020B0700000000000000" pitchFamily="34" charset="-128"/>
                <a:cs typeface="Arim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share/01494bb15410</a:t>
            </a:r>
            <a:endParaRPr lang="en-US" sz="1750" dirty="0">
              <a:solidFill>
                <a:srgbClr val="231971"/>
              </a:solidFill>
              <a:highlight>
                <a:srgbClr val="00FFFF"/>
              </a:highlight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3252AA-C288-15D8-696F-ED5B1765A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971" y="5119522"/>
            <a:ext cx="2169459" cy="21695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735</TotalTime>
  <Words>783</Words>
  <Application>Microsoft Office PowerPoint</Application>
  <PresentationFormat>Custom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Nirmala UI</vt:lpstr>
      <vt:lpstr>Tw Cen MT</vt:lpstr>
      <vt:lpstr>Yu Gothic UI Semibold</vt:lpstr>
      <vt:lpstr>Arial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Darshan patel</dc:creator>
  <cp:lastModifiedBy>Darshan patel</cp:lastModifiedBy>
  <cp:revision>10</cp:revision>
  <dcterms:created xsi:type="dcterms:W3CDTF">2026-01-22T15:12:17Z</dcterms:created>
  <dcterms:modified xsi:type="dcterms:W3CDTF">2026-02-18T05:54:00Z</dcterms:modified>
</cp:coreProperties>
</file>