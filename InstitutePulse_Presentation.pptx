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9" d="100"/>
          <a:sy n="69" d="100"/>
        </p:scale>
        <p:origin x="756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006495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22C55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36576"/>
            <a:ext cx="12191695" cy="73152"/>
          </a:xfrm>
          <a:prstGeom prst="rect">
            <a:avLst/>
          </a:prstGeom>
          <a:solidFill>
            <a:srgbClr val="22C55E">
              <a:alpha val="25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B82F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0" y="6748272"/>
            <a:ext cx="12191695" cy="73152"/>
          </a:xfrm>
          <a:prstGeom prst="rect">
            <a:avLst/>
          </a:prstGeom>
          <a:solidFill>
            <a:srgbClr val="3B82F6">
              <a:alpha val="20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228600" y="228600"/>
            <a:ext cx="457200" cy="18288"/>
          </a:xfrm>
          <a:prstGeom prst="rect">
            <a:avLst/>
          </a:prstGeom>
          <a:solidFill>
            <a:srgbClr val="22C55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228600" y="228600"/>
            <a:ext cx="18288" cy="457200"/>
          </a:xfrm>
          <a:prstGeom prst="rect">
            <a:avLst/>
          </a:prstGeom>
          <a:solidFill>
            <a:srgbClr val="22C55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11505895" y="6519672"/>
            <a:ext cx="457200" cy="18288"/>
          </a:xfrm>
          <a:prstGeom prst="rect">
            <a:avLst/>
          </a:prstGeom>
          <a:solidFill>
            <a:srgbClr val="22C55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11944807" y="6062472"/>
            <a:ext cx="18288" cy="475488"/>
          </a:xfrm>
          <a:prstGeom prst="rect">
            <a:avLst/>
          </a:prstGeom>
          <a:solidFill>
            <a:srgbClr val="22C55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0" y="0"/>
            <a:ext cx="27432" cy="6858000"/>
          </a:xfrm>
          <a:prstGeom prst="rect">
            <a:avLst/>
          </a:prstGeom>
          <a:solidFill>
            <a:srgbClr val="22C55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12164263" y="0"/>
            <a:ext cx="27432" cy="6858000"/>
          </a:xfrm>
          <a:prstGeom prst="rect">
            <a:avLst/>
          </a:prstGeom>
          <a:solidFill>
            <a:srgbClr val="3B82F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10"/>
          <p:cNvSpPr/>
          <p:nvPr/>
        </p:nvSpPr>
        <p:spPr>
          <a:xfrm>
            <a:off x="1828800" y="320040"/>
            <a:ext cx="8534095" cy="1005840"/>
          </a:xfrm>
          <a:prstGeom prst="roundRect">
            <a:avLst>
              <a:gd name="adj" fmla="val 13636"/>
            </a:avLst>
          </a:prstGeom>
          <a:solidFill>
            <a:srgbClr val="0F172A"/>
          </a:solidFill>
          <a:ln w="762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1828800" y="320040"/>
            <a:ext cx="8534095" cy="36576"/>
          </a:xfrm>
          <a:prstGeom prst="rect">
            <a:avLst/>
          </a:prstGeom>
          <a:solidFill>
            <a:srgbClr val="22C55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2011680" y="365760"/>
            <a:ext cx="8138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InstitutePulse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1828800" y="1417320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Smart Campus App for Green Habits and Student Life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4114800" y="1965960"/>
            <a:ext cx="1664080" cy="13716"/>
          </a:xfrm>
          <a:prstGeom prst="rect">
            <a:avLst/>
          </a:prstGeom>
          <a:solidFill>
            <a:srgbClr val="3B82F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5858122" y="1929384"/>
            <a:ext cx="82296" cy="82296"/>
          </a:xfrm>
          <a:prstGeom prst="roundRect">
            <a:avLst>
              <a:gd name="adj" fmla="val 22222"/>
            </a:avLst>
          </a:prstGeom>
          <a:solidFill>
            <a:srgbClr val="3B82F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Shape 16"/>
          <p:cNvSpPr/>
          <p:nvPr/>
        </p:nvSpPr>
        <p:spPr>
          <a:xfrm>
            <a:off x="6333573" y="1965960"/>
            <a:ext cx="1664080" cy="13716"/>
          </a:xfrm>
          <a:prstGeom prst="rect">
            <a:avLst/>
          </a:prstGeom>
          <a:solidFill>
            <a:srgbClr val="3B82F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Shape 17"/>
          <p:cNvSpPr/>
          <p:nvPr/>
        </p:nvSpPr>
        <p:spPr>
          <a:xfrm>
            <a:off x="2743200" y="2148840"/>
            <a:ext cx="6705295" cy="731520"/>
          </a:xfrm>
          <a:prstGeom prst="roundRect">
            <a:avLst>
              <a:gd name="adj" fmla="val 12500"/>
            </a:avLst>
          </a:prstGeom>
          <a:solidFill>
            <a:srgbClr val="0F172A"/>
          </a:solidFill>
          <a:ln w="635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5029200" y="2075688"/>
            <a:ext cx="1682496" cy="274320"/>
          </a:xfrm>
          <a:prstGeom prst="roundRect">
            <a:avLst>
              <a:gd name="adj" fmla="val 20000"/>
            </a:avLst>
          </a:prstGeom>
          <a:solidFill>
            <a:srgbClr val="020617"/>
          </a:solidFill>
          <a:ln w="762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5102352" y="2084832"/>
            <a:ext cx="15361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PROJECT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926080" y="2286000"/>
            <a:ext cx="63093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📘  Subject Code: 1BPRJ258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2926080" y="2560320"/>
            <a:ext cx="63093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Interdisciplinary Project-Based Learning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57200" y="3063240"/>
            <a:ext cx="5486400" cy="3200400"/>
          </a:xfrm>
          <a:prstGeom prst="roundRect">
            <a:avLst>
              <a:gd name="adj" fmla="val 3429"/>
            </a:avLst>
          </a:prstGeom>
          <a:solidFill>
            <a:srgbClr val="0F172A"/>
          </a:solidFill>
          <a:ln w="635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457200" y="3063240"/>
            <a:ext cx="5486400" cy="411480"/>
          </a:xfrm>
          <a:prstGeom prst="roundRect">
            <a:avLst>
              <a:gd name="adj" fmla="val 26667"/>
            </a:avLst>
          </a:prstGeom>
          <a:solidFill>
            <a:srgbClr val="16653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457200" y="3456432"/>
            <a:ext cx="5486400" cy="18288"/>
          </a:xfrm>
          <a:prstGeom prst="rect">
            <a:avLst/>
          </a:prstGeom>
          <a:solidFill>
            <a:srgbClr val="22C55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685800" y="3081528"/>
            <a:ext cx="5029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👥  TEAM MEMBERS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640080" y="3566160"/>
            <a:ext cx="5120640" cy="365760"/>
          </a:xfrm>
          <a:prstGeom prst="roundRect">
            <a:avLst>
              <a:gd name="adj" fmla="val 15000"/>
            </a:avLst>
          </a:prstGeom>
          <a:solidFill>
            <a:srgbClr val="11182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Shape 27"/>
          <p:cNvSpPr/>
          <p:nvPr/>
        </p:nvSpPr>
        <p:spPr>
          <a:xfrm>
            <a:off x="640080" y="3566160"/>
            <a:ext cx="36576" cy="365760"/>
          </a:xfrm>
          <a:prstGeom prst="rect">
            <a:avLst/>
          </a:prstGeom>
          <a:solidFill>
            <a:srgbClr val="22C55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777240" y="3602736"/>
            <a:ext cx="320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🎓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143000" y="36118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Mallikarjun B Chikkabasur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4617720" y="3621024"/>
            <a:ext cx="530352" cy="274320"/>
          </a:xfrm>
          <a:prstGeom prst="roundRect">
            <a:avLst>
              <a:gd name="adj" fmla="val 20000"/>
            </a:avLst>
          </a:prstGeom>
          <a:solidFill>
            <a:srgbClr val="020617"/>
          </a:solidFill>
          <a:ln w="762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Text 31"/>
          <p:cNvSpPr/>
          <p:nvPr/>
        </p:nvSpPr>
        <p:spPr>
          <a:xfrm>
            <a:off x="4690872" y="3630168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40080" y="4005072"/>
            <a:ext cx="5120640" cy="365760"/>
          </a:xfrm>
          <a:prstGeom prst="roundRect">
            <a:avLst>
              <a:gd name="adj" fmla="val 15000"/>
            </a:avLst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Shape 33"/>
          <p:cNvSpPr/>
          <p:nvPr/>
        </p:nvSpPr>
        <p:spPr>
          <a:xfrm>
            <a:off x="640080" y="4005072"/>
            <a:ext cx="36576" cy="365760"/>
          </a:xfrm>
          <a:prstGeom prst="rect">
            <a:avLst/>
          </a:prstGeom>
          <a:solidFill>
            <a:srgbClr val="22C55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/>
          <p:nvPr/>
        </p:nvSpPr>
        <p:spPr>
          <a:xfrm>
            <a:off x="777240" y="4041648"/>
            <a:ext cx="320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🎓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1143000" y="405079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Manoj G Raikar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4617720" y="4059936"/>
            <a:ext cx="530352" cy="274320"/>
          </a:xfrm>
          <a:prstGeom prst="roundRect">
            <a:avLst>
              <a:gd name="adj" fmla="val 20000"/>
            </a:avLst>
          </a:prstGeom>
          <a:solidFill>
            <a:srgbClr val="020617"/>
          </a:solidFill>
          <a:ln w="762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9" name="Text 37"/>
          <p:cNvSpPr/>
          <p:nvPr/>
        </p:nvSpPr>
        <p:spPr>
          <a:xfrm>
            <a:off x="4690872" y="4069080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40080" y="4443984"/>
            <a:ext cx="5120640" cy="365760"/>
          </a:xfrm>
          <a:prstGeom prst="roundRect">
            <a:avLst>
              <a:gd name="adj" fmla="val 15000"/>
            </a:avLst>
          </a:prstGeom>
          <a:solidFill>
            <a:srgbClr val="11182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Shape 39"/>
          <p:cNvSpPr/>
          <p:nvPr/>
        </p:nvSpPr>
        <p:spPr>
          <a:xfrm>
            <a:off x="640080" y="4443984"/>
            <a:ext cx="36576" cy="365760"/>
          </a:xfrm>
          <a:prstGeom prst="rect">
            <a:avLst/>
          </a:prstGeom>
          <a:solidFill>
            <a:srgbClr val="22C55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Text 40"/>
          <p:cNvSpPr/>
          <p:nvPr/>
        </p:nvSpPr>
        <p:spPr>
          <a:xfrm>
            <a:off x="777240" y="4480560"/>
            <a:ext cx="320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🎓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1143000" y="4489704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Manthan T Patel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4617720" y="4498848"/>
            <a:ext cx="530352" cy="274320"/>
          </a:xfrm>
          <a:prstGeom prst="roundRect">
            <a:avLst>
              <a:gd name="adj" fmla="val 20000"/>
            </a:avLst>
          </a:prstGeom>
          <a:solidFill>
            <a:srgbClr val="020617"/>
          </a:solidFill>
          <a:ln w="762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5" name="Text 43"/>
          <p:cNvSpPr/>
          <p:nvPr/>
        </p:nvSpPr>
        <p:spPr>
          <a:xfrm>
            <a:off x="4690872" y="450799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640080" y="4882896"/>
            <a:ext cx="5120640" cy="365760"/>
          </a:xfrm>
          <a:prstGeom prst="roundRect">
            <a:avLst>
              <a:gd name="adj" fmla="val 15000"/>
            </a:avLst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7" name="Shape 45"/>
          <p:cNvSpPr/>
          <p:nvPr/>
        </p:nvSpPr>
        <p:spPr>
          <a:xfrm>
            <a:off x="640080" y="4882896"/>
            <a:ext cx="36576" cy="365760"/>
          </a:xfrm>
          <a:prstGeom prst="rect">
            <a:avLst/>
          </a:prstGeom>
          <a:solidFill>
            <a:srgbClr val="8B5CF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Text 46"/>
          <p:cNvSpPr/>
          <p:nvPr/>
        </p:nvSpPr>
        <p:spPr>
          <a:xfrm>
            <a:off x="777240" y="4919472"/>
            <a:ext cx="320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1143000" y="492861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Bheemappa Talawar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4617720" y="4937760"/>
            <a:ext cx="694944" cy="274320"/>
          </a:xfrm>
          <a:prstGeom prst="roundRect">
            <a:avLst>
              <a:gd name="adj" fmla="val 20000"/>
            </a:avLst>
          </a:prstGeom>
          <a:solidFill>
            <a:srgbClr val="020617"/>
          </a:solidFill>
          <a:ln w="762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1" name="Text 49"/>
          <p:cNvSpPr/>
          <p:nvPr/>
        </p:nvSpPr>
        <p:spPr>
          <a:xfrm>
            <a:off x="4690872" y="4946904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AIML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640080" y="5321808"/>
            <a:ext cx="5120640" cy="365760"/>
          </a:xfrm>
          <a:prstGeom prst="roundRect">
            <a:avLst>
              <a:gd name="adj" fmla="val 15000"/>
            </a:avLst>
          </a:prstGeom>
          <a:solidFill>
            <a:srgbClr val="11182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3" name="Shape 51"/>
          <p:cNvSpPr/>
          <p:nvPr/>
        </p:nvSpPr>
        <p:spPr>
          <a:xfrm>
            <a:off x="640080" y="5321808"/>
            <a:ext cx="36576" cy="365760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4" name="Text 52"/>
          <p:cNvSpPr/>
          <p:nvPr/>
        </p:nvSpPr>
        <p:spPr>
          <a:xfrm>
            <a:off x="777240" y="5358384"/>
            <a:ext cx="320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</a:t>
            </a:r>
            <a:endParaRPr lang="en-US" sz="1400" dirty="0"/>
          </a:p>
        </p:txBody>
      </p:sp>
      <p:sp>
        <p:nvSpPr>
          <p:cNvPr id="55" name="Text 53"/>
          <p:cNvSpPr/>
          <p:nvPr/>
        </p:nvSpPr>
        <p:spPr>
          <a:xfrm>
            <a:off x="1143000" y="53675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Kasirayagouda Umannavar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4617720" y="5376672"/>
            <a:ext cx="612648" cy="274320"/>
          </a:xfrm>
          <a:prstGeom prst="roundRect">
            <a:avLst>
              <a:gd name="adj" fmla="val 20000"/>
            </a:avLst>
          </a:prstGeom>
          <a:solidFill>
            <a:srgbClr val="020617"/>
          </a:solidFill>
          <a:ln w="762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7" name="Text 55"/>
          <p:cNvSpPr/>
          <p:nvPr/>
        </p:nvSpPr>
        <p:spPr>
          <a:xfrm>
            <a:off x="4690872" y="5385816"/>
            <a:ext cx="4663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E&amp;C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640080" y="5760720"/>
            <a:ext cx="5120640" cy="365760"/>
          </a:xfrm>
          <a:prstGeom prst="roundRect">
            <a:avLst>
              <a:gd name="adj" fmla="val 15000"/>
            </a:avLst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9" name="Shape 57"/>
          <p:cNvSpPr/>
          <p:nvPr/>
        </p:nvSpPr>
        <p:spPr>
          <a:xfrm>
            <a:off x="640080" y="5760720"/>
            <a:ext cx="36576" cy="365760"/>
          </a:xfrm>
          <a:prstGeom prst="rect">
            <a:avLst/>
          </a:prstGeom>
          <a:solidFill>
            <a:srgbClr val="06B6D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Text 58"/>
          <p:cNvSpPr/>
          <p:nvPr/>
        </p:nvSpPr>
        <p:spPr>
          <a:xfrm>
            <a:off x="777240" y="5797296"/>
            <a:ext cx="320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</a:t>
            </a:r>
            <a:endParaRPr lang="en-US" sz="1400" dirty="0"/>
          </a:p>
        </p:txBody>
      </p:sp>
      <p:sp>
        <p:nvSpPr>
          <p:cNvPr id="61" name="Text 59"/>
          <p:cNvSpPr/>
          <p:nvPr/>
        </p:nvSpPr>
        <p:spPr>
          <a:xfrm>
            <a:off x="1143000" y="58064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Premkumar S Koppal</a:t>
            </a:r>
            <a:endParaRPr lang="en-US" sz="1300" dirty="0"/>
          </a:p>
        </p:txBody>
      </p:sp>
      <p:sp>
        <p:nvSpPr>
          <p:cNvPr id="62" name="Shape 60"/>
          <p:cNvSpPr/>
          <p:nvPr/>
        </p:nvSpPr>
        <p:spPr>
          <a:xfrm>
            <a:off x="4617720" y="5815584"/>
            <a:ext cx="530352" cy="274320"/>
          </a:xfrm>
          <a:prstGeom prst="roundRect">
            <a:avLst>
              <a:gd name="adj" fmla="val 20000"/>
            </a:avLst>
          </a:prstGeom>
          <a:solidFill>
            <a:srgbClr val="020617"/>
          </a:solidFill>
          <a:ln w="762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3" name="Text 61"/>
          <p:cNvSpPr/>
          <p:nvPr/>
        </p:nvSpPr>
        <p:spPr>
          <a:xfrm>
            <a:off x="4690872" y="5824728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6248095" y="3063240"/>
            <a:ext cx="5486400" cy="3200400"/>
          </a:xfrm>
          <a:prstGeom prst="roundRect">
            <a:avLst>
              <a:gd name="adj" fmla="val 3429"/>
            </a:avLst>
          </a:prstGeom>
          <a:solidFill>
            <a:srgbClr val="0F172A"/>
          </a:solidFill>
          <a:ln w="635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5" name="Shape 63"/>
          <p:cNvSpPr/>
          <p:nvPr/>
        </p:nvSpPr>
        <p:spPr>
          <a:xfrm>
            <a:off x="6248095" y="3063240"/>
            <a:ext cx="5486400" cy="411480"/>
          </a:xfrm>
          <a:prstGeom prst="roundRect">
            <a:avLst>
              <a:gd name="adj" fmla="val 26667"/>
            </a:avLst>
          </a:prstGeom>
          <a:solidFill>
            <a:srgbClr val="1E40A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6" name="Shape 64"/>
          <p:cNvSpPr/>
          <p:nvPr/>
        </p:nvSpPr>
        <p:spPr>
          <a:xfrm>
            <a:off x="6248095" y="3456432"/>
            <a:ext cx="5486400" cy="18288"/>
          </a:xfrm>
          <a:prstGeom prst="rect">
            <a:avLst/>
          </a:prstGeom>
          <a:solidFill>
            <a:srgbClr val="3B82F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7" name="Text 65"/>
          <p:cNvSpPr/>
          <p:nvPr/>
        </p:nvSpPr>
        <p:spPr>
          <a:xfrm>
            <a:off x="6446520" y="3081528"/>
            <a:ext cx="5029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🏫  UNDER THE GUIDANCE OF</a:t>
            </a:r>
            <a:endParaRPr lang="en-US" sz="1500" dirty="0"/>
          </a:p>
        </p:txBody>
      </p:sp>
      <p:sp>
        <p:nvSpPr>
          <p:cNvPr id="68" name="Text 66"/>
          <p:cNvSpPr/>
          <p:nvPr/>
        </p:nvSpPr>
        <p:spPr>
          <a:xfrm>
            <a:off x="6446520" y="37490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Guidance of:</a:t>
            </a:r>
            <a:endParaRPr lang="en-US" sz="1300" dirty="0"/>
          </a:p>
        </p:txBody>
      </p:sp>
      <p:sp>
        <p:nvSpPr>
          <p:cNvPr id="69" name="Text 67"/>
          <p:cNvSpPr/>
          <p:nvPr/>
        </p:nvSpPr>
        <p:spPr>
          <a:xfrm>
            <a:off x="6446520" y="411480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Somashekar T M</a:t>
            </a:r>
            <a:endParaRPr lang="en-US" sz="2400" dirty="0"/>
          </a:p>
        </p:txBody>
      </p:sp>
      <p:sp>
        <p:nvSpPr>
          <p:cNvPr id="70" name="Shape 68"/>
          <p:cNvSpPr/>
          <p:nvPr/>
        </p:nvSpPr>
        <p:spPr>
          <a:xfrm>
            <a:off x="6675120" y="4754880"/>
            <a:ext cx="4572000" cy="365760"/>
          </a:xfrm>
          <a:prstGeom prst="roundRect">
            <a:avLst>
              <a:gd name="adj" fmla="val 15000"/>
            </a:avLst>
          </a:prstGeom>
          <a:solidFill>
            <a:srgbClr val="111827"/>
          </a:solidFill>
          <a:ln w="508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1" name="Shape 69"/>
          <p:cNvSpPr/>
          <p:nvPr/>
        </p:nvSpPr>
        <p:spPr>
          <a:xfrm>
            <a:off x="6675120" y="4754880"/>
            <a:ext cx="36576" cy="365760"/>
          </a:xfrm>
          <a:prstGeom prst="rect">
            <a:avLst/>
          </a:prstGeom>
          <a:solidFill>
            <a:srgbClr val="3B82F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2" name="Text 70"/>
          <p:cNvSpPr/>
          <p:nvPr/>
        </p:nvSpPr>
        <p:spPr>
          <a:xfrm>
            <a:off x="6766560" y="480060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Assistant Professor</a:t>
            </a:r>
            <a:endParaRPr lang="en-US" sz="1300" dirty="0"/>
          </a:p>
        </p:txBody>
      </p:sp>
      <p:sp>
        <p:nvSpPr>
          <p:cNvPr id="73" name="Shape 71"/>
          <p:cNvSpPr/>
          <p:nvPr/>
        </p:nvSpPr>
        <p:spPr>
          <a:xfrm>
            <a:off x="6675120" y="5257800"/>
            <a:ext cx="4572000" cy="365760"/>
          </a:xfrm>
          <a:prstGeom prst="roundRect">
            <a:avLst>
              <a:gd name="adj" fmla="val 15000"/>
            </a:avLst>
          </a:prstGeom>
          <a:solidFill>
            <a:srgbClr val="111827"/>
          </a:solidFill>
          <a:ln w="508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4" name="Shape 72"/>
          <p:cNvSpPr/>
          <p:nvPr/>
        </p:nvSpPr>
        <p:spPr>
          <a:xfrm>
            <a:off x="6675120" y="5257800"/>
            <a:ext cx="36576" cy="365760"/>
          </a:xfrm>
          <a:prstGeom prst="rect">
            <a:avLst/>
          </a:prstGeom>
          <a:solidFill>
            <a:srgbClr val="3B82F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5" name="Text 73"/>
          <p:cNvSpPr/>
          <p:nvPr/>
        </p:nvSpPr>
        <p:spPr>
          <a:xfrm>
            <a:off x="6766560" y="530352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Mechanical Engineering</a:t>
            </a:r>
            <a:endParaRPr lang="en-US" sz="1200" dirty="0"/>
          </a:p>
        </p:txBody>
      </p:sp>
      <p:sp>
        <p:nvSpPr>
          <p:cNvPr id="76" name="Shape 74"/>
          <p:cNvSpPr/>
          <p:nvPr/>
        </p:nvSpPr>
        <p:spPr>
          <a:xfrm>
            <a:off x="2926080" y="6126480"/>
            <a:ext cx="6309360" cy="320040"/>
          </a:xfrm>
          <a:prstGeom prst="roundRect">
            <a:avLst>
              <a:gd name="adj" fmla="val 17143"/>
            </a:avLst>
          </a:prstGeom>
          <a:solidFill>
            <a:srgbClr val="11182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7" name="Text 75"/>
          <p:cNvSpPr/>
          <p:nvPr/>
        </p:nvSpPr>
        <p:spPr>
          <a:xfrm>
            <a:off x="3108960" y="612648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🏛️  Jain College of Engineering, Belagavi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11430000" y="6446520"/>
            <a:ext cx="548640" cy="256032"/>
          </a:xfrm>
          <a:prstGeom prst="roundRect">
            <a:avLst>
              <a:gd name="adj" fmla="val 21429"/>
            </a:avLst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9" name="Text 77"/>
          <p:cNvSpPr/>
          <p:nvPr/>
        </p:nvSpPr>
        <p:spPr>
          <a:xfrm>
            <a:off x="11430000" y="6455664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1/12</a:t>
            </a:r>
            <a:endParaRPr lang="en-US" sz="900" dirty="0"/>
          </a:p>
        </p:txBody>
      </p:sp>
      <p:sp>
        <p:nvSpPr>
          <p:cNvPr id="80" name="Text 78"/>
          <p:cNvSpPr/>
          <p:nvPr/>
        </p:nvSpPr>
        <p:spPr>
          <a:xfrm>
            <a:off x="320040" y="6473952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InstitutePulse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3B82F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36576"/>
            <a:ext cx="12191695" cy="73152"/>
          </a:xfrm>
          <a:prstGeom prst="rect">
            <a:avLst/>
          </a:prstGeom>
          <a:solidFill>
            <a:srgbClr val="3B82F6">
              <a:alpha val="25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B82F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0" y="6748272"/>
            <a:ext cx="12191695" cy="73152"/>
          </a:xfrm>
          <a:prstGeom prst="rect">
            <a:avLst/>
          </a:prstGeom>
          <a:solidFill>
            <a:srgbClr val="3B82F6">
              <a:alpha val="20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228600" y="228600"/>
            <a:ext cx="457200" cy="18288"/>
          </a:xfrm>
          <a:prstGeom prst="rect">
            <a:avLst/>
          </a:prstGeom>
          <a:solidFill>
            <a:srgbClr val="3B82F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228600" y="228600"/>
            <a:ext cx="18288" cy="457200"/>
          </a:xfrm>
          <a:prstGeom prst="rect">
            <a:avLst/>
          </a:prstGeom>
          <a:solidFill>
            <a:srgbClr val="3B82F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11505895" y="6519672"/>
            <a:ext cx="457200" cy="18288"/>
          </a:xfrm>
          <a:prstGeom prst="rect">
            <a:avLst/>
          </a:prstGeom>
          <a:solidFill>
            <a:srgbClr val="3B82F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11944807" y="6062472"/>
            <a:ext cx="18288" cy="475488"/>
          </a:xfrm>
          <a:prstGeom prst="rect">
            <a:avLst/>
          </a:prstGeom>
          <a:solidFill>
            <a:srgbClr val="3B82F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320040" y="2743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E40AF"/>
          </a:solidFill>
          <a:ln w="762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320040" y="274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914400" y="365760"/>
            <a:ext cx="941832" cy="274320"/>
          </a:xfrm>
          <a:prstGeom prst="roundRect">
            <a:avLst>
              <a:gd name="adj" fmla="val 20000"/>
            </a:avLst>
          </a:prstGeom>
          <a:solidFill>
            <a:srgbClr val="020617"/>
          </a:solidFill>
          <a:ln w="762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987552" y="374904"/>
            <a:ext cx="7955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APP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914400" y="77724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Page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914400" y="1280160"/>
            <a:ext cx="3657600" cy="27432"/>
          </a:xfrm>
          <a:prstGeom prst="rect">
            <a:avLst/>
          </a:prstGeom>
          <a:solidFill>
            <a:srgbClr val="3B82F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Shape 14"/>
          <p:cNvSpPr/>
          <p:nvPr/>
        </p:nvSpPr>
        <p:spPr>
          <a:xfrm>
            <a:off x="914400" y="1307592"/>
            <a:ext cx="1828800" cy="18288"/>
          </a:xfrm>
          <a:prstGeom prst="rect">
            <a:avLst/>
          </a:prstGeom>
          <a:solidFill>
            <a:srgbClr val="3B82F6">
              <a:alpha val="40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914400" y="14173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impression — a premium, responsive web experience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20040" y="1874520"/>
            <a:ext cx="5303520" cy="438912"/>
          </a:xfrm>
          <a:prstGeom prst="roundRect">
            <a:avLst>
              <a:gd name="adj" fmla="val 12500"/>
            </a:avLst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Shape 17"/>
          <p:cNvSpPr/>
          <p:nvPr/>
        </p:nvSpPr>
        <p:spPr>
          <a:xfrm>
            <a:off x="320040" y="1874520"/>
            <a:ext cx="36576" cy="438912"/>
          </a:xfrm>
          <a:prstGeom prst="rect">
            <a:avLst/>
          </a:prstGeom>
          <a:solidFill>
            <a:srgbClr val="3B82F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429768" y="1929384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1E40A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29768" y="1911096"/>
            <a:ext cx="329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🎨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50392" y="1929384"/>
            <a:ext cx="4617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futuristic UI with gradient accents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20040" y="2404872"/>
            <a:ext cx="5303520" cy="438912"/>
          </a:xfrm>
          <a:prstGeom prst="roundRect">
            <a:avLst>
              <a:gd name="adj" fmla="val 12500"/>
            </a:avLst>
          </a:prstGeom>
          <a:solidFill>
            <a:srgbClr val="11182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Shape 22"/>
          <p:cNvSpPr/>
          <p:nvPr/>
        </p:nvSpPr>
        <p:spPr>
          <a:xfrm>
            <a:off x="320040" y="2404872"/>
            <a:ext cx="36576" cy="438912"/>
          </a:xfrm>
          <a:prstGeom prst="rect">
            <a:avLst/>
          </a:prstGeom>
          <a:solidFill>
            <a:srgbClr val="3B82F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429768" y="2459736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1E40A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429768" y="2441448"/>
            <a:ext cx="329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50392" y="2459736"/>
            <a:ext cx="4617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One-click Android APK download button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20040" y="2935224"/>
            <a:ext cx="5303520" cy="438912"/>
          </a:xfrm>
          <a:prstGeom prst="roundRect">
            <a:avLst>
              <a:gd name="adj" fmla="val 12500"/>
            </a:avLst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Shape 27"/>
          <p:cNvSpPr/>
          <p:nvPr/>
        </p:nvSpPr>
        <p:spPr>
          <a:xfrm>
            <a:off x="320040" y="2935224"/>
            <a:ext cx="36576" cy="438912"/>
          </a:xfrm>
          <a:prstGeom prst="rect">
            <a:avLst/>
          </a:prstGeom>
          <a:solidFill>
            <a:srgbClr val="3B82F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Shape 28"/>
          <p:cNvSpPr/>
          <p:nvPr/>
        </p:nvSpPr>
        <p:spPr>
          <a:xfrm>
            <a:off x="429768" y="2990088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1E40A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Text 29"/>
          <p:cNvSpPr/>
          <p:nvPr/>
        </p:nvSpPr>
        <p:spPr>
          <a:xfrm>
            <a:off x="429768" y="2971800"/>
            <a:ext cx="329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🔐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850392" y="2990088"/>
            <a:ext cx="4617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login: Student, Faculty, Admin, Owner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080760" y="1874520"/>
            <a:ext cx="5303520" cy="438912"/>
          </a:xfrm>
          <a:prstGeom prst="roundRect">
            <a:avLst>
              <a:gd name="adj" fmla="val 12500"/>
            </a:avLst>
          </a:prstGeom>
          <a:solidFill>
            <a:srgbClr val="11182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Shape 32"/>
          <p:cNvSpPr/>
          <p:nvPr/>
        </p:nvSpPr>
        <p:spPr>
          <a:xfrm>
            <a:off x="6080760" y="1874520"/>
            <a:ext cx="36576" cy="438912"/>
          </a:xfrm>
          <a:prstGeom prst="rect">
            <a:avLst/>
          </a:prstGeom>
          <a:solidFill>
            <a:srgbClr val="3B82F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Shape 33"/>
          <p:cNvSpPr/>
          <p:nvPr/>
        </p:nvSpPr>
        <p:spPr>
          <a:xfrm>
            <a:off x="6190488" y="1929384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1E40A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/>
          <p:nvPr/>
        </p:nvSpPr>
        <p:spPr>
          <a:xfrm>
            <a:off x="6190488" y="1911096"/>
            <a:ext cx="329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611112" y="1929384"/>
            <a:ext cx="4617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campus statistics counter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080760" y="2404872"/>
            <a:ext cx="5303520" cy="438912"/>
          </a:xfrm>
          <a:prstGeom prst="roundRect">
            <a:avLst>
              <a:gd name="adj" fmla="val 12500"/>
            </a:avLst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9" name="Shape 37"/>
          <p:cNvSpPr/>
          <p:nvPr/>
        </p:nvSpPr>
        <p:spPr>
          <a:xfrm>
            <a:off x="6080760" y="2404872"/>
            <a:ext cx="36576" cy="438912"/>
          </a:xfrm>
          <a:prstGeom prst="rect">
            <a:avLst/>
          </a:prstGeom>
          <a:solidFill>
            <a:srgbClr val="3B82F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Shape 38"/>
          <p:cNvSpPr/>
          <p:nvPr/>
        </p:nvSpPr>
        <p:spPr>
          <a:xfrm>
            <a:off x="6190488" y="2459736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1E40A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6190488" y="2441448"/>
            <a:ext cx="329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🌍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611112" y="2459736"/>
            <a:ext cx="4617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SDG alignment badges &amp; feature showcase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6080760" y="2935224"/>
            <a:ext cx="5303520" cy="438912"/>
          </a:xfrm>
          <a:prstGeom prst="roundRect">
            <a:avLst>
              <a:gd name="adj" fmla="val 12500"/>
            </a:avLst>
          </a:prstGeom>
          <a:solidFill>
            <a:srgbClr val="11182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4" name="Shape 42"/>
          <p:cNvSpPr/>
          <p:nvPr/>
        </p:nvSpPr>
        <p:spPr>
          <a:xfrm>
            <a:off x="6080760" y="2935224"/>
            <a:ext cx="36576" cy="438912"/>
          </a:xfrm>
          <a:prstGeom prst="rect">
            <a:avLst/>
          </a:prstGeom>
          <a:solidFill>
            <a:srgbClr val="3B82F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5" name="Shape 43"/>
          <p:cNvSpPr/>
          <p:nvPr/>
        </p:nvSpPr>
        <p:spPr>
          <a:xfrm>
            <a:off x="6190488" y="2990088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1E40A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6190488" y="2971800"/>
            <a:ext cx="329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📐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6611112" y="2990088"/>
            <a:ext cx="4617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responsive — mobile &amp; desktop ready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3200400" y="3575304"/>
            <a:ext cx="5888736" cy="3107297"/>
          </a:xfrm>
          <a:prstGeom prst="roundRect">
            <a:avLst>
              <a:gd name="adj" fmla="val 5297"/>
            </a:avLst>
          </a:prstGeom>
          <a:solidFill>
            <a:srgbClr val="0000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9" name="Shape 47"/>
          <p:cNvSpPr/>
          <p:nvPr/>
        </p:nvSpPr>
        <p:spPr>
          <a:xfrm>
            <a:off x="3145536" y="3520440"/>
            <a:ext cx="5888736" cy="2924417"/>
          </a:xfrm>
          <a:prstGeom prst="roundRect">
            <a:avLst>
              <a:gd name="adj" fmla="val 3752"/>
            </a:avLst>
          </a:prstGeom>
          <a:solidFill>
            <a:srgbClr val="111827"/>
          </a:solidFill>
          <a:ln w="762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0" name="Shape 48"/>
          <p:cNvSpPr/>
          <p:nvPr/>
        </p:nvSpPr>
        <p:spPr>
          <a:xfrm>
            <a:off x="6035040" y="3611880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475569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1" name="Text 49"/>
          <p:cNvSpPr/>
          <p:nvPr/>
        </p:nvSpPr>
        <p:spPr>
          <a:xfrm>
            <a:off x="3602736" y="3575304"/>
            <a:ext cx="4974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page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255264" y="3794760"/>
            <a:ext cx="5669280" cy="2576945"/>
          </a:xfrm>
          <a:prstGeom prst="roundRect">
            <a:avLst>
              <a:gd name="adj" fmla="val 1419"/>
            </a:avLst>
          </a:prstGeom>
          <a:solidFill>
            <a:srgbClr val="060D1B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53" name="Image 0" descr="C:\Users\dp862\OneDrive\Desktop\InstitutePluse\InstitutePluse\screenshoot\landing page 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5264" y="3794760"/>
            <a:ext cx="5669280" cy="2576945"/>
          </a:xfrm>
          <a:prstGeom prst="rect">
            <a:avLst/>
          </a:prstGeom>
        </p:spPr>
      </p:pic>
      <p:sp>
        <p:nvSpPr>
          <p:cNvPr id="54" name="Shape 51"/>
          <p:cNvSpPr/>
          <p:nvPr/>
        </p:nvSpPr>
        <p:spPr>
          <a:xfrm>
            <a:off x="2916936" y="6463145"/>
            <a:ext cx="6345936" cy="201168"/>
          </a:xfrm>
          <a:prstGeom prst="roundRect">
            <a:avLst>
              <a:gd name="adj" fmla="val 18182"/>
            </a:avLst>
          </a:prstGeom>
          <a:solidFill>
            <a:srgbClr val="1E293B"/>
          </a:solidFill>
          <a:ln w="381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5" name="Shape 52"/>
          <p:cNvSpPr/>
          <p:nvPr/>
        </p:nvSpPr>
        <p:spPr>
          <a:xfrm>
            <a:off x="5724144" y="6508865"/>
            <a:ext cx="731520" cy="109728"/>
          </a:xfrm>
          <a:prstGeom prst="roundRect">
            <a:avLst>
              <a:gd name="adj" fmla="val 25000"/>
            </a:avLst>
          </a:prstGeom>
          <a:solidFill>
            <a:srgbClr val="475569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6" name="Shape 53"/>
          <p:cNvSpPr/>
          <p:nvPr/>
        </p:nvSpPr>
        <p:spPr>
          <a:xfrm>
            <a:off x="11430000" y="6446520"/>
            <a:ext cx="548640" cy="256032"/>
          </a:xfrm>
          <a:prstGeom prst="roundRect">
            <a:avLst>
              <a:gd name="adj" fmla="val 21429"/>
            </a:avLst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7" name="Text 54"/>
          <p:cNvSpPr/>
          <p:nvPr/>
        </p:nvSpPr>
        <p:spPr>
          <a:xfrm>
            <a:off x="11430000" y="6455664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2/12</a:t>
            </a:r>
            <a:endParaRPr lang="en-US" sz="900" dirty="0"/>
          </a:p>
        </p:txBody>
      </p:sp>
      <p:sp>
        <p:nvSpPr>
          <p:cNvPr id="58" name="Text 55"/>
          <p:cNvSpPr/>
          <p:nvPr/>
        </p:nvSpPr>
        <p:spPr>
          <a:xfrm>
            <a:off x="320040" y="6473952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InstitutePulse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8B5CF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36576"/>
            <a:ext cx="12191695" cy="73152"/>
          </a:xfrm>
          <a:prstGeom prst="rect">
            <a:avLst/>
          </a:prstGeom>
          <a:solidFill>
            <a:srgbClr val="8B5CF6">
              <a:alpha val="25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8B5CF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0" y="6748272"/>
            <a:ext cx="12191695" cy="73152"/>
          </a:xfrm>
          <a:prstGeom prst="rect">
            <a:avLst/>
          </a:prstGeom>
          <a:solidFill>
            <a:srgbClr val="8B5CF6">
              <a:alpha val="20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228600" y="228600"/>
            <a:ext cx="457200" cy="18288"/>
          </a:xfrm>
          <a:prstGeom prst="rect">
            <a:avLst/>
          </a:prstGeom>
          <a:solidFill>
            <a:srgbClr val="8B5CF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228600" y="228600"/>
            <a:ext cx="18288" cy="457200"/>
          </a:xfrm>
          <a:prstGeom prst="rect">
            <a:avLst/>
          </a:prstGeom>
          <a:solidFill>
            <a:srgbClr val="8B5CF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11505895" y="6519672"/>
            <a:ext cx="457200" cy="18288"/>
          </a:xfrm>
          <a:prstGeom prst="rect">
            <a:avLst/>
          </a:prstGeom>
          <a:solidFill>
            <a:srgbClr val="8B5CF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11944807" y="6062472"/>
            <a:ext cx="18288" cy="475488"/>
          </a:xfrm>
          <a:prstGeom prst="rect">
            <a:avLst/>
          </a:prstGeom>
          <a:solidFill>
            <a:srgbClr val="8B5CF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320040" y="2743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5B21B6"/>
          </a:solidFill>
          <a:ln w="762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320040" y="274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914400" y="365760"/>
            <a:ext cx="1024128" cy="274320"/>
          </a:xfrm>
          <a:prstGeom prst="roundRect">
            <a:avLst>
              <a:gd name="adj" fmla="val 20000"/>
            </a:avLst>
          </a:prstGeom>
          <a:solidFill>
            <a:srgbClr val="020617"/>
          </a:solidFill>
          <a:ln w="762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987552" y="374904"/>
            <a:ext cx="8778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914400" y="77724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 System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914400" y="1280160"/>
            <a:ext cx="3657600" cy="27432"/>
          </a:xfrm>
          <a:prstGeom prst="rect">
            <a:avLst/>
          </a:prstGeom>
          <a:solidFill>
            <a:srgbClr val="8B5CF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Shape 14"/>
          <p:cNvSpPr/>
          <p:nvPr/>
        </p:nvSpPr>
        <p:spPr>
          <a:xfrm>
            <a:off x="914400" y="1307592"/>
            <a:ext cx="1828800" cy="18288"/>
          </a:xfrm>
          <a:prstGeom prst="rect">
            <a:avLst/>
          </a:prstGeom>
          <a:solidFill>
            <a:srgbClr val="8B5CF6">
              <a:alpha val="40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914400" y="14173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role-based sign-in &amp; sign-up with brute-force protection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20040" y="1874520"/>
            <a:ext cx="5303520" cy="438912"/>
          </a:xfrm>
          <a:prstGeom prst="roundRect">
            <a:avLst>
              <a:gd name="adj" fmla="val 12500"/>
            </a:avLst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Shape 17"/>
          <p:cNvSpPr/>
          <p:nvPr/>
        </p:nvSpPr>
        <p:spPr>
          <a:xfrm>
            <a:off x="320040" y="1874520"/>
            <a:ext cx="36576" cy="438912"/>
          </a:xfrm>
          <a:prstGeom prst="rect">
            <a:avLst/>
          </a:prstGeom>
          <a:solidFill>
            <a:srgbClr val="8B5CF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429768" y="1929384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5B21B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29768" y="1911096"/>
            <a:ext cx="329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👤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50392" y="1929384"/>
            <a:ext cx="4617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routing: Student / Faculty / Admin / Owner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20040" y="2404872"/>
            <a:ext cx="5303520" cy="438912"/>
          </a:xfrm>
          <a:prstGeom prst="roundRect">
            <a:avLst>
              <a:gd name="adj" fmla="val 12500"/>
            </a:avLst>
          </a:prstGeom>
          <a:solidFill>
            <a:srgbClr val="11182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Shape 22"/>
          <p:cNvSpPr/>
          <p:nvPr/>
        </p:nvSpPr>
        <p:spPr>
          <a:xfrm>
            <a:off x="320040" y="2404872"/>
            <a:ext cx="36576" cy="438912"/>
          </a:xfrm>
          <a:prstGeom prst="rect">
            <a:avLst/>
          </a:prstGeom>
          <a:solidFill>
            <a:srgbClr val="8B5CF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429768" y="2459736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5B21B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429768" y="2441448"/>
            <a:ext cx="329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50392" y="2459736"/>
            <a:ext cx="4617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Auth with PostgreSQL RLS security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20040" y="2935224"/>
            <a:ext cx="5303520" cy="438912"/>
          </a:xfrm>
          <a:prstGeom prst="roundRect">
            <a:avLst>
              <a:gd name="adj" fmla="val 12500"/>
            </a:avLst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Shape 27"/>
          <p:cNvSpPr/>
          <p:nvPr/>
        </p:nvSpPr>
        <p:spPr>
          <a:xfrm>
            <a:off x="320040" y="2935224"/>
            <a:ext cx="36576" cy="438912"/>
          </a:xfrm>
          <a:prstGeom prst="rect">
            <a:avLst/>
          </a:prstGeom>
          <a:solidFill>
            <a:srgbClr val="8B5CF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Shape 28"/>
          <p:cNvSpPr/>
          <p:nvPr/>
        </p:nvSpPr>
        <p:spPr>
          <a:xfrm>
            <a:off x="429768" y="2990088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5B21B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Text 29"/>
          <p:cNvSpPr/>
          <p:nvPr/>
        </p:nvSpPr>
        <p:spPr>
          <a:xfrm>
            <a:off x="429768" y="2971800"/>
            <a:ext cx="329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🛡️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850392" y="2990088"/>
            <a:ext cx="4617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Brute-force lockout: 3 attempts → 60s block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080760" y="1874520"/>
            <a:ext cx="5303520" cy="438912"/>
          </a:xfrm>
          <a:prstGeom prst="roundRect">
            <a:avLst>
              <a:gd name="adj" fmla="val 12500"/>
            </a:avLst>
          </a:prstGeom>
          <a:solidFill>
            <a:srgbClr val="11182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Shape 32"/>
          <p:cNvSpPr/>
          <p:nvPr/>
        </p:nvSpPr>
        <p:spPr>
          <a:xfrm>
            <a:off x="6080760" y="1874520"/>
            <a:ext cx="36576" cy="438912"/>
          </a:xfrm>
          <a:prstGeom prst="rect">
            <a:avLst/>
          </a:prstGeom>
          <a:solidFill>
            <a:srgbClr val="8B5CF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Shape 33"/>
          <p:cNvSpPr/>
          <p:nvPr/>
        </p:nvSpPr>
        <p:spPr>
          <a:xfrm>
            <a:off x="6190488" y="1929384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5B21B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/>
          <p:nvPr/>
        </p:nvSpPr>
        <p:spPr>
          <a:xfrm>
            <a:off x="6190488" y="1911096"/>
            <a:ext cx="329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🏫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611112" y="1929384"/>
            <a:ext cx="4617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&amp; department selection on sign-up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080760" y="2404872"/>
            <a:ext cx="5303520" cy="438912"/>
          </a:xfrm>
          <a:prstGeom prst="roundRect">
            <a:avLst>
              <a:gd name="adj" fmla="val 12500"/>
            </a:avLst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9" name="Shape 37"/>
          <p:cNvSpPr/>
          <p:nvPr/>
        </p:nvSpPr>
        <p:spPr>
          <a:xfrm>
            <a:off x="6080760" y="2404872"/>
            <a:ext cx="36576" cy="438912"/>
          </a:xfrm>
          <a:prstGeom prst="rect">
            <a:avLst/>
          </a:prstGeom>
          <a:solidFill>
            <a:srgbClr val="8B5CF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Shape 38"/>
          <p:cNvSpPr/>
          <p:nvPr/>
        </p:nvSpPr>
        <p:spPr>
          <a:xfrm>
            <a:off x="6190488" y="2459736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5B21B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6190488" y="2441448"/>
            <a:ext cx="329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📸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611112" y="2459736"/>
            <a:ext cx="4617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avatar upload with real-time preview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6080760" y="2935224"/>
            <a:ext cx="5303520" cy="438912"/>
          </a:xfrm>
          <a:prstGeom prst="roundRect">
            <a:avLst>
              <a:gd name="adj" fmla="val 12500"/>
            </a:avLst>
          </a:prstGeom>
          <a:solidFill>
            <a:srgbClr val="11182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4" name="Shape 42"/>
          <p:cNvSpPr/>
          <p:nvPr/>
        </p:nvSpPr>
        <p:spPr>
          <a:xfrm>
            <a:off x="6080760" y="2935224"/>
            <a:ext cx="36576" cy="438912"/>
          </a:xfrm>
          <a:prstGeom prst="rect">
            <a:avLst/>
          </a:prstGeom>
          <a:solidFill>
            <a:srgbClr val="8B5CF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5" name="Shape 43"/>
          <p:cNvSpPr/>
          <p:nvPr/>
        </p:nvSpPr>
        <p:spPr>
          <a:xfrm>
            <a:off x="6190488" y="2990088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5B21B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6190488" y="2971800"/>
            <a:ext cx="329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6611112" y="2990088"/>
            <a:ext cx="4617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Auto-redirect based on authenticated role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420624" y="3712464"/>
            <a:ext cx="5248656" cy="2816352"/>
          </a:xfrm>
          <a:prstGeom prst="roundRect">
            <a:avLst>
              <a:gd name="adj" fmla="val 5844"/>
            </a:avLst>
          </a:prstGeom>
          <a:solidFill>
            <a:srgbClr val="0000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9" name="Shape 47"/>
          <p:cNvSpPr/>
          <p:nvPr/>
        </p:nvSpPr>
        <p:spPr>
          <a:xfrm>
            <a:off x="365760" y="3657600"/>
            <a:ext cx="5248656" cy="2633472"/>
          </a:xfrm>
          <a:prstGeom prst="roundRect">
            <a:avLst>
              <a:gd name="adj" fmla="val 4167"/>
            </a:avLst>
          </a:prstGeom>
          <a:solidFill>
            <a:srgbClr val="111827"/>
          </a:solidFill>
          <a:ln w="762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0" name="Shape 48"/>
          <p:cNvSpPr/>
          <p:nvPr/>
        </p:nvSpPr>
        <p:spPr>
          <a:xfrm>
            <a:off x="2935224" y="3749040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475569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1" name="Text 49"/>
          <p:cNvSpPr/>
          <p:nvPr/>
        </p:nvSpPr>
        <p:spPr>
          <a:xfrm>
            <a:off x="822960" y="3712464"/>
            <a:ext cx="43342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Signin Page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75488" y="3931920"/>
            <a:ext cx="5029200" cy="2286000"/>
          </a:xfrm>
          <a:prstGeom prst="roundRect">
            <a:avLst>
              <a:gd name="adj" fmla="val 1600"/>
            </a:avLst>
          </a:prstGeom>
          <a:solidFill>
            <a:srgbClr val="060D1B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53" name="Image 0" descr="C:\Users\dp862\OneDrive\Desktop\InstitutePluse\InstitutePluse\screenshoot\Signin Page 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3931920"/>
            <a:ext cx="5029200" cy="2286000"/>
          </a:xfrm>
          <a:prstGeom prst="rect">
            <a:avLst/>
          </a:prstGeom>
        </p:spPr>
      </p:pic>
      <p:sp>
        <p:nvSpPr>
          <p:cNvPr id="54" name="Shape 51"/>
          <p:cNvSpPr/>
          <p:nvPr/>
        </p:nvSpPr>
        <p:spPr>
          <a:xfrm>
            <a:off x="137160" y="6309360"/>
            <a:ext cx="5705856" cy="201168"/>
          </a:xfrm>
          <a:prstGeom prst="roundRect">
            <a:avLst>
              <a:gd name="adj" fmla="val 18182"/>
            </a:avLst>
          </a:prstGeom>
          <a:solidFill>
            <a:srgbClr val="1E293B"/>
          </a:solidFill>
          <a:ln w="381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5" name="Shape 52"/>
          <p:cNvSpPr/>
          <p:nvPr/>
        </p:nvSpPr>
        <p:spPr>
          <a:xfrm>
            <a:off x="2624328" y="6355080"/>
            <a:ext cx="731520" cy="109728"/>
          </a:xfrm>
          <a:prstGeom prst="roundRect">
            <a:avLst>
              <a:gd name="adj" fmla="val 25000"/>
            </a:avLst>
          </a:prstGeom>
          <a:solidFill>
            <a:srgbClr val="475569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6" name="Shape 53"/>
          <p:cNvSpPr/>
          <p:nvPr/>
        </p:nvSpPr>
        <p:spPr>
          <a:xfrm>
            <a:off x="6455664" y="3712464"/>
            <a:ext cx="5248656" cy="2816352"/>
          </a:xfrm>
          <a:prstGeom prst="roundRect">
            <a:avLst>
              <a:gd name="adj" fmla="val 5844"/>
            </a:avLst>
          </a:prstGeom>
          <a:solidFill>
            <a:srgbClr val="0000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7" name="Shape 54"/>
          <p:cNvSpPr/>
          <p:nvPr/>
        </p:nvSpPr>
        <p:spPr>
          <a:xfrm>
            <a:off x="6400800" y="3657600"/>
            <a:ext cx="5248656" cy="2633472"/>
          </a:xfrm>
          <a:prstGeom prst="roundRect">
            <a:avLst>
              <a:gd name="adj" fmla="val 4167"/>
            </a:avLst>
          </a:prstGeom>
          <a:solidFill>
            <a:srgbClr val="111827"/>
          </a:solidFill>
          <a:ln w="762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8" name="Shape 55"/>
          <p:cNvSpPr/>
          <p:nvPr/>
        </p:nvSpPr>
        <p:spPr>
          <a:xfrm>
            <a:off x="8970264" y="3749040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475569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9" name="Text 56"/>
          <p:cNvSpPr/>
          <p:nvPr/>
        </p:nvSpPr>
        <p:spPr>
          <a:xfrm>
            <a:off x="6858000" y="3712464"/>
            <a:ext cx="43342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Signup Page</a:t>
            </a:r>
            <a:endParaRPr lang="en-US" sz="900" dirty="0"/>
          </a:p>
        </p:txBody>
      </p:sp>
      <p:sp>
        <p:nvSpPr>
          <p:cNvPr id="60" name="Shape 57"/>
          <p:cNvSpPr/>
          <p:nvPr/>
        </p:nvSpPr>
        <p:spPr>
          <a:xfrm>
            <a:off x="6510528" y="3931920"/>
            <a:ext cx="5029200" cy="2286000"/>
          </a:xfrm>
          <a:prstGeom prst="roundRect">
            <a:avLst>
              <a:gd name="adj" fmla="val 1600"/>
            </a:avLst>
          </a:prstGeom>
          <a:solidFill>
            <a:srgbClr val="060D1B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61" name="Image 1" descr="C:\Users\dp862\OneDrive\Desktop\InstitutePluse\InstitutePluse\screenshoot\Signup Page I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0528" y="3931920"/>
            <a:ext cx="5029200" cy="2286000"/>
          </a:xfrm>
          <a:prstGeom prst="rect">
            <a:avLst/>
          </a:prstGeom>
        </p:spPr>
      </p:pic>
      <p:sp>
        <p:nvSpPr>
          <p:cNvPr id="62" name="Shape 58"/>
          <p:cNvSpPr/>
          <p:nvPr/>
        </p:nvSpPr>
        <p:spPr>
          <a:xfrm>
            <a:off x="6172200" y="6309360"/>
            <a:ext cx="5705856" cy="201168"/>
          </a:xfrm>
          <a:prstGeom prst="roundRect">
            <a:avLst>
              <a:gd name="adj" fmla="val 18182"/>
            </a:avLst>
          </a:prstGeom>
          <a:solidFill>
            <a:srgbClr val="1E293B"/>
          </a:solidFill>
          <a:ln w="381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3" name="Shape 59"/>
          <p:cNvSpPr/>
          <p:nvPr/>
        </p:nvSpPr>
        <p:spPr>
          <a:xfrm>
            <a:off x="8659368" y="6355080"/>
            <a:ext cx="731520" cy="109728"/>
          </a:xfrm>
          <a:prstGeom prst="roundRect">
            <a:avLst>
              <a:gd name="adj" fmla="val 25000"/>
            </a:avLst>
          </a:prstGeom>
          <a:solidFill>
            <a:srgbClr val="475569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4" name="Shape 60"/>
          <p:cNvSpPr/>
          <p:nvPr/>
        </p:nvSpPr>
        <p:spPr>
          <a:xfrm>
            <a:off x="11430000" y="6446520"/>
            <a:ext cx="548640" cy="256032"/>
          </a:xfrm>
          <a:prstGeom prst="roundRect">
            <a:avLst>
              <a:gd name="adj" fmla="val 21429"/>
            </a:avLst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5" name="Text 61"/>
          <p:cNvSpPr/>
          <p:nvPr/>
        </p:nvSpPr>
        <p:spPr>
          <a:xfrm>
            <a:off x="11430000" y="6455664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3/12</a:t>
            </a:r>
            <a:endParaRPr lang="en-US" sz="900" dirty="0"/>
          </a:p>
        </p:txBody>
      </p:sp>
      <p:sp>
        <p:nvSpPr>
          <p:cNvPr id="66" name="Text 62"/>
          <p:cNvSpPr/>
          <p:nvPr/>
        </p:nvSpPr>
        <p:spPr>
          <a:xfrm>
            <a:off x="320040" y="6473952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InstitutePulse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22C55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36576"/>
            <a:ext cx="12191695" cy="73152"/>
          </a:xfrm>
          <a:prstGeom prst="rect">
            <a:avLst/>
          </a:prstGeom>
          <a:solidFill>
            <a:srgbClr val="22C55E">
              <a:alpha val="25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22C55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0" y="6748272"/>
            <a:ext cx="12191695" cy="73152"/>
          </a:xfrm>
          <a:prstGeom prst="rect">
            <a:avLst/>
          </a:prstGeom>
          <a:solidFill>
            <a:srgbClr val="22C55E">
              <a:alpha val="20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228600" y="228600"/>
            <a:ext cx="457200" cy="18288"/>
          </a:xfrm>
          <a:prstGeom prst="rect">
            <a:avLst/>
          </a:prstGeom>
          <a:solidFill>
            <a:srgbClr val="22C55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228600" y="228600"/>
            <a:ext cx="18288" cy="457200"/>
          </a:xfrm>
          <a:prstGeom prst="rect">
            <a:avLst/>
          </a:prstGeom>
          <a:solidFill>
            <a:srgbClr val="22C55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11505895" y="6519672"/>
            <a:ext cx="457200" cy="18288"/>
          </a:xfrm>
          <a:prstGeom prst="rect">
            <a:avLst/>
          </a:prstGeom>
          <a:solidFill>
            <a:srgbClr val="22C55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11944807" y="6062472"/>
            <a:ext cx="18288" cy="475488"/>
          </a:xfrm>
          <a:prstGeom prst="rect">
            <a:avLst/>
          </a:prstGeom>
          <a:solidFill>
            <a:srgbClr val="22C55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320040" y="2743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66534"/>
          </a:solidFill>
          <a:ln w="762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320040" y="274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914400" y="365760"/>
            <a:ext cx="941832" cy="274320"/>
          </a:xfrm>
          <a:prstGeom prst="roundRect">
            <a:avLst>
              <a:gd name="adj" fmla="val 20000"/>
            </a:avLst>
          </a:prstGeom>
          <a:solidFill>
            <a:srgbClr val="020617"/>
          </a:solidFill>
          <a:ln w="762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987552" y="374904"/>
            <a:ext cx="7955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914400" y="77724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Dashboard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914400" y="1280160"/>
            <a:ext cx="3657600" cy="27432"/>
          </a:xfrm>
          <a:prstGeom prst="rect">
            <a:avLst/>
          </a:prstGeom>
          <a:solidFill>
            <a:srgbClr val="22C55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Shape 14"/>
          <p:cNvSpPr/>
          <p:nvPr/>
        </p:nvSpPr>
        <p:spPr>
          <a:xfrm>
            <a:off x="914400" y="1307592"/>
            <a:ext cx="1828800" cy="18288"/>
          </a:xfrm>
          <a:prstGeom prst="rect">
            <a:avLst/>
          </a:prstGeom>
          <a:solidFill>
            <a:srgbClr val="22C55E">
              <a:alpha val="40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914400" y="14173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personalized command center for every student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20040" y="1874520"/>
            <a:ext cx="5303520" cy="438912"/>
          </a:xfrm>
          <a:prstGeom prst="roundRect">
            <a:avLst>
              <a:gd name="adj" fmla="val 12500"/>
            </a:avLst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Shape 17"/>
          <p:cNvSpPr/>
          <p:nvPr/>
        </p:nvSpPr>
        <p:spPr>
          <a:xfrm>
            <a:off x="320040" y="1874520"/>
            <a:ext cx="36576" cy="438912"/>
          </a:xfrm>
          <a:prstGeom prst="rect">
            <a:avLst/>
          </a:prstGeom>
          <a:solidFill>
            <a:srgbClr val="22C55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429768" y="1929384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16653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29768" y="1911096"/>
            <a:ext cx="329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⭐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50392" y="1929384"/>
            <a:ext cx="4617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XP level &amp; progress bar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20040" y="2404872"/>
            <a:ext cx="5303520" cy="438912"/>
          </a:xfrm>
          <a:prstGeom prst="roundRect">
            <a:avLst>
              <a:gd name="adj" fmla="val 12500"/>
            </a:avLst>
          </a:prstGeom>
          <a:solidFill>
            <a:srgbClr val="11182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Shape 22"/>
          <p:cNvSpPr/>
          <p:nvPr/>
        </p:nvSpPr>
        <p:spPr>
          <a:xfrm>
            <a:off x="320040" y="2404872"/>
            <a:ext cx="36576" cy="438912"/>
          </a:xfrm>
          <a:prstGeom prst="rect">
            <a:avLst/>
          </a:prstGeom>
          <a:solidFill>
            <a:srgbClr val="22C55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429768" y="2459736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16653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429768" y="2441448"/>
            <a:ext cx="329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🌿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50392" y="2459736"/>
            <a:ext cx="4617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 Score gauge with daily carbon insights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20040" y="2935224"/>
            <a:ext cx="5303520" cy="438912"/>
          </a:xfrm>
          <a:prstGeom prst="roundRect">
            <a:avLst>
              <a:gd name="adj" fmla="val 12500"/>
            </a:avLst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Shape 27"/>
          <p:cNvSpPr/>
          <p:nvPr/>
        </p:nvSpPr>
        <p:spPr>
          <a:xfrm>
            <a:off x="320040" y="2935224"/>
            <a:ext cx="36576" cy="438912"/>
          </a:xfrm>
          <a:prstGeom prst="rect">
            <a:avLst/>
          </a:prstGeom>
          <a:solidFill>
            <a:srgbClr val="22C55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Shape 28"/>
          <p:cNvSpPr/>
          <p:nvPr/>
        </p:nvSpPr>
        <p:spPr>
          <a:xfrm>
            <a:off x="429768" y="2990088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16653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Text 29"/>
          <p:cNvSpPr/>
          <p:nvPr/>
        </p:nvSpPr>
        <p:spPr>
          <a:xfrm>
            <a:off x="429768" y="2971800"/>
            <a:ext cx="329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850392" y="2990088"/>
            <a:ext cx="4617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Quick-action cards: Log Carbon, Scan QR, Events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080760" y="1874520"/>
            <a:ext cx="5303520" cy="438912"/>
          </a:xfrm>
          <a:prstGeom prst="roundRect">
            <a:avLst>
              <a:gd name="adj" fmla="val 12500"/>
            </a:avLst>
          </a:prstGeom>
          <a:solidFill>
            <a:srgbClr val="11182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Shape 32"/>
          <p:cNvSpPr/>
          <p:nvPr/>
        </p:nvSpPr>
        <p:spPr>
          <a:xfrm>
            <a:off x="6080760" y="1874520"/>
            <a:ext cx="36576" cy="438912"/>
          </a:xfrm>
          <a:prstGeom prst="rect">
            <a:avLst/>
          </a:prstGeom>
          <a:solidFill>
            <a:srgbClr val="22C55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Shape 33"/>
          <p:cNvSpPr/>
          <p:nvPr/>
        </p:nvSpPr>
        <p:spPr>
          <a:xfrm>
            <a:off x="6190488" y="1929384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16653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/>
          <p:nvPr/>
        </p:nvSpPr>
        <p:spPr>
          <a:xfrm>
            <a:off x="6190488" y="1911096"/>
            <a:ext cx="329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611112" y="1929384"/>
            <a:ext cx="4617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Streak counter &amp; 16 unlockable badges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080760" y="2404872"/>
            <a:ext cx="5303520" cy="438912"/>
          </a:xfrm>
          <a:prstGeom prst="roundRect">
            <a:avLst>
              <a:gd name="adj" fmla="val 12500"/>
            </a:avLst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9" name="Shape 37"/>
          <p:cNvSpPr/>
          <p:nvPr/>
        </p:nvSpPr>
        <p:spPr>
          <a:xfrm>
            <a:off x="6080760" y="2404872"/>
            <a:ext cx="36576" cy="438912"/>
          </a:xfrm>
          <a:prstGeom prst="rect">
            <a:avLst/>
          </a:prstGeom>
          <a:solidFill>
            <a:srgbClr val="22C55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Shape 38"/>
          <p:cNvSpPr/>
          <p:nvPr/>
        </p:nvSpPr>
        <p:spPr>
          <a:xfrm>
            <a:off x="6190488" y="2459736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16653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6190488" y="2441448"/>
            <a:ext cx="329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611112" y="2459736"/>
            <a:ext cx="4617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 broadcast alert banners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6080760" y="2935224"/>
            <a:ext cx="5303520" cy="438912"/>
          </a:xfrm>
          <a:prstGeom prst="roundRect">
            <a:avLst>
              <a:gd name="adj" fmla="val 12500"/>
            </a:avLst>
          </a:prstGeom>
          <a:solidFill>
            <a:srgbClr val="11182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4" name="Shape 42"/>
          <p:cNvSpPr/>
          <p:nvPr/>
        </p:nvSpPr>
        <p:spPr>
          <a:xfrm>
            <a:off x="6080760" y="2935224"/>
            <a:ext cx="36576" cy="438912"/>
          </a:xfrm>
          <a:prstGeom prst="rect">
            <a:avLst/>
          </a:prstGeom>
          <a:solidFill>
            <a:srgbClr val="22C55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5" name="Shape 43"/>
          <p:cNvSpPr/>
          <p:nvPr/>
        </p:nvSpPr>
        <p:spPr>
          <a:xfrm>
            <a:off x="6190488" y="2990088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16653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6190488" y="2971800"/>
            <a:ext cx="329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6611112" y="2990088"/>
            <a:ext cx="4617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Campus-wide leaderboard ranking preview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3200400" y="3575304"/>
            <a:ext cx="5888736" cy="3107297"/>
          </a:xfrm>
          <a:prstGeom prst="roundRect">
            <a:avLst>
              <a:gd name="adj" fmla="val 5297"/>
            </a:avLst>
          </a:prstGeom>
          <a:solidFill>
            <a:srgbClr val="0000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9" name="Shape 47"/>
          <p:cNvSpPr/>
          <p:nvPr/>
        </p:nvSpPr>
        <p:spPr>
          <a:xfrm>
            <a:off x="3145536" y="3520440"/>
            <a:ext cx="5888736" cy="2924417"/>
          </a:xfrm>
          <a:prstGeom prst="roundRect">
            <a:avLst>
              <a:gd name="adj" fmla="val 3752"/>
            </a:avLst>
          </a:prstGeom>
          <a:solidFill>
            <a:srgbClr val="111827"/>
          </a:solidFill>
          <a:ln w="762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0" name="Shape 48"/>
          <p:cNvSpPr/>
          <p:nvPr/>
        </p:nvSpPr>
        <p:spPr>
          <a:xfrm>
            <a:off x="6035040" y="3611880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475569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1" name="Text 49"/>
          <p:cNvSpPr/>
          <p:nvPr/>
        </p:nvSpPr>
        <p:spPr>
          <a:xfrm>
            <a:off x="3602736" y="3575304"/>
            <a:ext cx="4974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Dashboard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255264" y="3794760"/>
            <a:ext cx="5669280" cy="2576945"/>
          </a:xfrm>
          <a:prstGeom prst="roundRect">
            <a:avLst>
              <a:gd name="adj" fmla="val 1419"/>
            </a:avLst>
          </a:prstGeom>
          <a:solidFill>
            <a:srgbClr val="060D1B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53" name="Image 0" descr="C:\Users\dp862\OneDrive\Desktop\InstitutePluse\InstitutePluse\screenshoot\Student 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5264" y="3794760"/>
            <a:ext cx="5669280" cy="2576945"/>
          </a:xfrm>
          <a:prstGeom prst="rect">
            <a:avLst/>
          </a:prstGeom>
        </p:spPr>
      </p:pic>
      <p:sp>
        <p:nvSpPr>
          <p:cNvPr id="54" name="Shape 51"/>
          <p:cNvSpPr/>
          <p:nvPr/>
        </p:nvSpPr>
        <p:spPr>
          <a:xfrm>
            <a:off x="2916936" y="6463145"/>
            <a:ext cx="6345936" cy="201168"/>
          </a:xfrm>
          <a:prstGeom prst="roundRect">
            <a:avLst>
              <a:gd name="adj" fmla="val 18182"/>
            </a:avLst>
          </a:prstGeom>
          <a:solidFill>
            <a:srgbClr val="1E293B"/>
          </a:solidFill>
          <a:ln w="381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5" name="Shape 52"/>
          <p:cNvSpPr/>
          <p:nvPr/>
        </p:nvSpPr>
        <p:spPr>
          <a:xfrm>
            <a:off x="5724144" y="6508865"/>
            <a:ext cx="731520" cy="109728"/>
          </a:xfrm>
          <a:prstGeom prst="roundRect">
            <a:avLst>
              <a:gd name="adj" fmla="val 25000"/>
            </a:avLst>
          </a:prstGeom>
          <a:solidFill>
            <a:srgbClr val="475569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6" name="Shape 53"/>
          <p:cNvSpPr/>
          <p:nvPr/>
        </p:nvSpPr>
        <p:spPr>
          <a:xfrm>
            <a:off x="11430000" y="6446520"/>
            <a:ext cx="548640" cy="256032"/>
          </a:xfrm>
          <a:prstGeom prst="roundRect">
            <a:avLst>
              <a:gd name="adj" fmla="val 21429"/>
            </a:avLst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7" name="Text 54"/>
          <p:cNvSpPr/>
          <p:nvPr/>
        </p:nvSpPr>
        <p:spPr>
          <a:xfrm>
            <a:off x="11430000" y="6455664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4/12</a:t>
            </a:r>
            <a:endParaRPr lang="en-US" sz="900" dirty="0"/>
          </a:p>
        </p:txBody>
      </p:sp>
      <p:sp>
        <p:nvSpPr>
          <p:cNvPr id="58" name="Text 55"/>
          <p:cNvSpPr/>
          <p:nvPr/>
        </p:nvSpPr>
        <p:spPr>
          <a:xfrm>
            <a:off x="320040" y="6473952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InstitutePulse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22C55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36576"/>
            <a:ext cx="12191695" cy="73152"/>
          </a:xfrm>
          <a:prstGeom prst="rect">
            <a:avLst/>
          </a:prstGeom>
          <a:solidFill>
            <a:srgbClr val="22C55E">
              <a:alpha val="25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22C55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0" y="6748272"/>
            <a:ext cx="12191695" cy="73152"/>
          </a:xfrm>
          <a:prstGeom prst="rect">
            <a:avLst/>
          </a:prstGeom>
          <a:solidFill>
            <a:srgbClr val="22C55E">
              <a:alpha val="20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228600" y="228600"/>
            <a:ext cx="457200" cy="18288"/>
          </a:xfrm>
          <a:prstGeom prst="rect">
            <a:avLst/>
          </a:prstGeom>
          <a:solidFill>
            <a:srgbClr val="22C55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228600" y="228600"/>
            <a:ext cx="18288" cy="457200"/>
          </a:xfrm>
          <a:prstGeom prst="rect">
            <a:avLst/>
          </a:prstGeom>
          <a:solidFill>
            <a:srgbClr val="22C55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11505895" y="6519672"/>
            <a:ext cx="457200" cy="18288"/>
          </a:xfrm>
          <a:prstGeom prst="rect">
            <a:avLst/>
          </a:prstGeom>
          <a:solidFill>
            <a:srgbClr val="22C55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11944807" y="6062472"/>
            <a:ext cx="18288" cy="475488"/>
          </a:xfrm>
          <a:prstGeom prst="rect">
            <a:avLst/>
          </a:prstGeom>
          <a:solidFill>
            <a:srgbClr val="22C55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320040" y="2743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66534"/>
          </a:solidFill>
          <a:ln w="762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320040" y="274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914400" y="365760"/>
            <a:ext cx="1517904" cy="274320"/>
          </a:xfrm>
          <a:prstGeom prst="roundRect">
            <a:avLst>
              <a:gd name="adj" fmla="val 20000"/>
            </a:avLst>
          </a:prstGeom>
          <a:solidFill>
            <a:srgbClr val="020617"/>
          </a:solidFill>
          <a:ln w="762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987552" y="374904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SUSTAINABILITY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914400" y="77724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Carbon Footprint Tracker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914400" y="1280160"/>
            <a:ext cx="3657600" cy="27432"/>
          </a:xfrm>
          <a:prstGeom prst="rect">
            <a:avLst/>
          </a:prstGeom>
          <a:solidFill>
            <a:srgbClr val="22C55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Shape 14"/>
          <p:cNvSpPr/>
          <p:nvPr/>
        </p:nvSpPr>
        <p:spPr>
          <a:xfrm>
            <a:off x="914400" y="1307592"/>
            <a:ext cx="1828800" cy="18288"/>
          </a:xfrm>
          <a:prstGeom prst="rect">
            <a:avLst/>
          </a:prstGeom>
          <a:solidFill>
            <a:srgbClr val="22C55E">
              <a:alpha val="40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914400" y="14173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IPCC-standard daily carbon logging with gamified rewards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20040" y="1874520"/>
            <a:ext cx="5303520" cy="438912"/>
          </a:xfrm>
          <a:prstGeom prst="roundRect">
            <a:avLst>
              <a:gd name="adj" fmla="val 12500"/>
            </a:avLst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Shape 17"/>
          <p:cNvSpPr/>
          <p:nvPr/>
        </p:nvSpPr>
        <p:spPr>
          <a:xfrm>
            <a:off x="320040" y="1874520"/>
            <a:ext cx="36576" cy="438912"/>
          </a:xfrm>
          <a:prstGeom prst="rect">
            <a:avLst/>
          </a:prstGeom>
          <a:solidFill>
            <a:srgbClr val="22C55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429768" y="1929384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16653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29768" y="1911096"/>
            <a:ext cx="329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🚗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50392" y="1929384"/>
            <a:ext cx="4617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travel, electricity, meals, water &amp; waste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20040" y="2404872"/>
            <a:ext cx="5303520" cy="438912"/>
          </a:xfrm>
          <a:prstGeom prst="roundRect">
            <a:avLst>
              <a:gd name="adj" fmla="val 12500"/>
            </a:avLst>
          </a:prstGeom>
          <a:solidFill>
            <a:srgbClr val="11182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Shape 22"/>
          <p:cNvSpPr/>
          <p:nvPr/>
        </p:nvSpPr>
        <p:spPr>
          <a:xfrm>
            <a:off x="320040" y="2404872"/>
            <a:ext cx="36576" cy="438912"/>
          </a:xfrm>
          <a:prstGeom prst="rect">
            <a:avLst/>
          </a:prstGeom>
          <a:solidFill>
            <a:srgbClr val="22C55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429768" y="2459736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16653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429768" y="2441448"/>
            <a:ext cx="329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50392" y="2459736"/>
            <a:ext cx="4617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Grid factor: 0.82 kg CO₂/kWh applied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20040" y="2935224"/>
            <a:ext cx="5303520" cy="438912"/>
          </a:xfrm>
          <a:prstGeom prst="roundRect">
            <a:avLst>
              <a:gd name="adj" fmla="val 12500"/>
            </a:avLst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Shape 27"/>
          <p:cNvSpPr/>
          <p:nvPr/>
        </p:nvSpPr>
        <p:spPr>
          <a:xfrm>
            <a:off x="320040" y="2935224"/>
            <a:ext cx="36576" cy="438912"/>
          </a:xfrm>
          <a:prstGeom prst="rect">
            <a:avLst/>
          </a:prstGeom>
          <a:solidFill>
            <a:srgbClr val="22C55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Shape 28"/>
          <p:cNvSpPr/>
          <p:nvPr/>
        </p:nvSpPr>
        <p:spPr>
          <a:xfrm>
            <a:off x="429768" y="2990088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16653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Text 29"/>
          <p:cNvSpPr/>
          <p:nvPr/>
        </p:nvSpPr>
        <p:spPr>
          <a:xfrm>
            <a:off x="429768" y="2971800"/>
            <a:ext cx="329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850392" y="2990088"/>
            <a:ext cx="4617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 Score = max(0, 100 − (Emissions/5) × 100)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080760" y="1874520"/>
            <a:ext cx="5303520" cy="438912"/>
          </a:xfrm>
          <a:prstGeom prst="roundRect">
            <a:avLst>
              <a:gd name="adj" fmla="val 12500"/>
            </a:avLst>
          </a:prstGeom>
          <a:solidFill>
            <a:srgbClr val="11182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Shape 32"/>
          <p:cNvSpPr/>
          <p:nvPr/>
        </p:nvSpPr>
        <p:spPr>
          <a:xfrm>
            <a:off x="6080760" y="1874520"/>
            <a:ext cx="36576" cy="438912"/>
          </a:xfrm>
          <a:prstGeom prst="rect">
            <a:avLst/>
          </a:prstGeom>
          <a:solidFill>
            <a:srgbClr val="22C55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Shape 33"/>
          <p:cNvSpPr/>
          <p:nvPr/>
        </p:nvSpPr>
        <p:spPr>
          <a:xfrm>
            <a:off x="6190488" y="1929384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16653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/>
          <p:nvPr/>
        </p:nvSpPr>
        <p:spPr>
          <a:xfrm>
            <a:off x="6190488" y="1911096"/>
            <a:ext cx="329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611112" y="1929384"/>
            <a:ext cx="4617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XP rewards: +10 base, +60 perfect, +15 walk/vegan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080760" y="2404872"/>
            <a:ext cx="5303520" cy="438912"/>
          </a:xfrm>
          <a:prstGeom prst="roundRect">
            <a:avLst>
              <a:gd name="adj" fmla="val 12500"/>
            </a:avLst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9" name="Shape 37"/>
          <p:cNvSpPr/>
          <p:nvPr/>
        </p:nvSpPr>
        <p:spPr>
          <a:xfrm>
            <a:off x="6080760" y="2404872"/>
            <a:ext cx="36576" cy="438912"/>
          </a:xfrm>
          <a:prstGeom prst="rect">
            <a:avLst/>
          </a:prstGeom>
          <a:solidFill>
            <a:srgbClr val="22C55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Shape 38"/>
          <p:cNvSpPr/>
          <p:nvPr/>
        </p:nvSpPr>
        <p:spPr>
          <a:xfrm>
            <a:off x="6190488" y="2459736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16653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6190488" y="2441448"/>
            <a:ext cx="329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611112" y="2459736"/>
            <a:ext cx="4617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Streaks: 3d (+30), 7d (+75), 30d (+200 XP)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6080760" y="2935224"/>
            <a:ext cx="5303520" cy="438912"/>
          </a:xfrm>
          <a:prstGeom prst="roundRect">
            <a:avLst>
              <a:gd name="adj" fmla="val 12500"/>
            </a:avLst>
          </a:prstGeom>
          <a:solidFill>
            <a:srgbClr val="11182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4" name="Shape 42"/>
          <p:cNvSpPr/>
          <p:nvPr/>
        </p:nvSpPr>
        <p:spPr>
          <a:xfrm>
            <a:off x="6080760" y="2935224"/>
            <a:ext cx="36576" cy="438912"/>
          </a:xfrm>
          <a:prstGeom prst="rect">
            <a:avLst/>
          </a:prstGeom>
          <a:solidFill>
            <a:srgbClr val="22C55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5" name="Shape 43"/>
          <p:cNvSpPr/>
          <p:nvPr/>
        </p:nvSpPr>
        <p:spPr>
          <a:xfrm>
            <a:off x="6190488" y="2990088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16653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6190488" y="2971800"/>
            <a:ext cx="329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🛡️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6611112" y="2990088"/>
            <a:ext cx="4617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Anti-cheat: yesterday-only, hard limits, cross-check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3200400" y="3575304"/>
            <a:ext cx="5888736" cy="3107297"/>
          </a:xfrm>
          <a:prstGeom prst="roundRect">
            <a:avLst>
              <a:gd name="adj" fmla="val 5297"/>
            </a:avLst>
          </a:prstGeom>
          <a:solidFill>
            <a:srgbClr val="0000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9" name="Shape 47"/>
          <p:cNvSpPr/>
          <p:nvPr/>
        </p:nvSpPr>
        <p:spPr>
          <a:xfrm>
            <a:off x="3145536" y="3520440"/>
            <a:ext cx="5888736" cy="2924417"/>
          </a:xfrm>
          <a:prstGeom prst="roundRect">
            <a:avLst>
              <a:gd name="adj" fmla="val 3752"/>
            </a:avLst>
          </a:prstGeom>
          <a:solidFill>
            <a:srgbClr val="111827"/>
          </a:solidFill>
          <a:ln w="762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0" name="Shape 48"/>
          <p:cNvSpPr/>
          <p:nvPr/>
        </p:nvSpPr>
        <p:spPr>
          <a:xfrm>
            <a:off x="6035040" y="3611880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475569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1" name="Text 49"/>
          <p:cNvSpPr/>
          <p:nvPr/>
        </p:nvSpPr>
        <p:spPr>
          <a:xfrm>
            <a:off x="3602736" y="3575304"/>
            <a:ext cx="4974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carbon sycn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255264" y="3794760"/>
            <a:ext cx="5669280" cy="2576945"/>
          </a:xfrm>
          <a:prstGeom prst="roundRect">
            <a:avLst>
              <a:gd name="adj" fmla="val 1419"/>
            </a:avLst>
          </a:prstGeom>
          <a:solidFill>
            <a:srgbClr val="060D1B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53" name="Image 0" descr="C:\Users\dp862\OneDrive\Desktop\InstitutePluse\InstitutePluse\screenshoot\carbon sycn 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5264" y="3794760"/>
            <a:ext cx="5669280" cy="2576945"/>
          </a:xfrm>
          <a:prstGeom prst="rect">
            <a:avLst/>
          </a:prstGeom>
        </p:spPr>
      </p:pic>
      <p:sp>
        <p:nvSpPr>
          <p:cNvPr id="54" name="Shape 51"/>
          <p:cNvSpPr/>
          <p:nvPr/>
        </p:nvSpPr>
        <p:spPr>
          <a:xfrm>
            <a:off x="2916936" y="6463145"/>
            <a:ext cx="6345936" cy="201168"/>
          </a:xfrm>
          <a:prstGeom prst="roundRect">
            <a:avLst>
              <a:gd name="adj" fmla="val 18182"/>
            </a:avLst>
          </a:prstGeom>
          <a:solidFill>
            <a:srgbClr val="1E293B"/>
          </a:solidFill>
          <a:ln w="381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5" name="Shape 52"/>
          <p:cNvSpPr/>
          <p:nvPr/>
        </p:nvSpPr>
        <p:spPr>
          <a:xfrm>
            <a:off x="5724144" y="6508865"/>
            <a:ext cx="731520" cy="109728"/>
          </a:xfrm>
          <a:prstGeom prst="roundRect">
            <a:avLst>
              <a:gd name="adj" fmla="val 25000"/>
            </a:avLst>
          </a:prstGeom>
          <a:solidFill>
            <a:srgbClr val="475569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6" name="Shape 53"/>
          <p:cNvSpPr/>
          <p:nvPr/>
        </p:nvSpPr>
        <p:spPr>
          <a:xfrm>
            <a:off x="11430000" y="6446520"/>
            <a:ext cx="548640" cy="256032"/>
          </a:xfrm>
          <a:prstGeom prst="roundRect">
            <a:avLst>
              <a:gd name="adj" fmla="val 21429"/>
            </a:avLst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7" name="Text 54"/>
          <p:cNvSpPr/>
          <p:nvPr/>
        </p:nvSpPr>
        <p:spPr>
          <a:xfrm>
            <a:off x="11430000" y="6455664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5/12</a:t>
            </a:r>
            <a:endParaRPr lang="en-US" sz="900" dirty="0"/>
          </a:p>
        </p:txBody>
      </p:sp>
      <p:sp>
        <p:nvSpPr>
          <p:cNvPr id="58" name="Text 55"/>
          <p:cNvSpPr/>
          <p:nvPr/>
        </p:nvSpPr>
        <p:spPr>
          <a:xfrm>
            <a:off x="320040" y="6473952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InstitutePulse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3B82F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36576"/>
            <a:ext cx="12191695" cy="73152"/>
          </a:xfrm>
          <a:prstGeom prst="rect">
            <a:avLst/>
          </a:prstGeom>
          <a:solidFill>
            <a:srgbClr val="3B82F6">
              <a:alpha val="25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B82F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0" y="6748272"/>
            <a:ext cx="12191695" cy="73152"/>
          </a:xfrm>
          <a:prstGeom prst="rect">
            <a:avLst/>
          </a:prstGeom>
          <a:solidFill>
            <a:srgbClr val="3B82F6">
              <a:alpha val="20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228600" y="228600"/>
            <a:ext cx="457200" cy="18288"/>
          </a:xfrm>
          <a:prstGeom prst="rect">
            <a:avLst/>
          </a:prstGeom>
          <a:solidFill>
            <a:srgbClr val="3B82F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228600" y="228600"/>
            <a:ext cx="18288" cy="457200"/>
          </a:xfrm>
          <a:prstGeom prst="rect">
            <a:avLst/>
          </a:prstGeom>
          <a:solidFill>
            <a:srgbClr val="3B82F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11505895" y="6519672"/>
            <a:ext cx="457200" cy="18288"/>
          </a:xfrm>
          <a:prstGeom prst="rect">
            <a:avLst/>
          </a:prstGeom>
          <a:solidFill>
            <a:srgbClr val="3B82F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11944807" y="6062472"/>
            <a:ext cx="18288" cy="475488"/>
          </a:xfrm>
          <a:prstGeom prst="rect">
            <a:avLst/>
          </a:prstGeom>
          <a:solidFill>
            <a:srgbClr val="3B82F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320040" y="2743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E40AF"/>
          </a:solidFill>
          <a:ln w="762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320040" y="274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914400" y="365760"/>
            <a:ext cx="1188720" cy="274320"/>
          </a:xfrm>
          <a:prstGeom prst="roundRect">
            <a:avLst>
              <a:gd name="adj" fmla="val 20000"/>
            </a:avLst>
          </a:prstGeom>
          <a:solidFill>
            <a:srgbClr val="020617"/>
          </a:solidFill>
          <a:ln w="762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987552" y="374904"/>
            <a:ext cx="104241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914400" y="77724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Timed QR Attendance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914400" y="1280160"/>
            <a:ext cx="3657600" cy="27432"/>
          </a:xfrm>
          <a:prstGeom prst="rect">
            <a:avLst/>
          </a:prstGeom>
          <a:solidFill>
            <a:srgbClr val="3B82F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Shape 14"/>
          <p:cNvSpPr/>
          <p:nvPr/>
        </p:nvSpPr>
        <p:spPr>
          <a:xfrm>
            <a:off x="914400" y="1307592"/>
            <a:ext cx="1828800" cy="18288"/>
          </a:xfrm>
          <a:prstGeom prst="rect">
            <a:avLst/>
          </a:prstGeom>
          <a:solidFill>
            <a:srgbClr val="3B82F6">
              <a:alpha val="40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914400" y="14173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Anti-proxy attendance with real-time tracking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20040" y="1874520"/>
            <a:ext cx="5303520" cy="438912"/>
          </a:xfrm>
          <a:prstGeom prst="roundRect">
            <a:avLst>
              <a:gd name="adj" fmla="val 12500"/>
            </a:avLst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Shape 17"/>
          <p:cNvSpPr/>
          <p:nvPr/>
        </p:nvSpPr>
        <p:spPr>
          <a:xfrm>
            <a:off x="320040" y="1874520"/>
            <a:ext cx="36576" cy="438912"/>
          </a:xfrm>
          <a:prstGeom prst="rect">
            <a:avLst/>
          </a:prstGeom>
          <a:solidFill>
            <a:srgbClr val="3B82F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429768" y="1929384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1E40A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29768" y="1911096"/>
            <a:ext cx="329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50392" y="1929384"/>
            <a:ext cx="4617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Batch-specific QR codes tied to class timetable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20040" y="2404872"/>
            <a:ext cx="5303520" cy="438912"/>
          </a:xfrm>
          <a:prstGeom prst="roundRect">
            <a:avLst>
              <a:gd name="adj" fmla="val 12500"/>
            </a:avLst>
          </a:prstGeom>
          <a:solidFill>
            <a:srgbClr val="11182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Shape 22"/>
          <p:cNvSpPr/>
          <p:nvPr/>
        </p:nvSpPr>
        <p:spPr>
          <a:xfrm>
            <a:off x="320040" y="2404872"/>
            <a:ext cx="36576" cy="438912"/>
          </a:xfrm>
          <a:prstGeom prst="rect">
            <a:avLst/>
          </a:prstGeom>
          <a:solidFill>
            <a:srgbClr val="3B82F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429768" y="2459736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1E40A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429768" y="2441448"/>
            <a:ext cx="329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⏱️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50392" y="2459736"/>
            <a:ext cx="4617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Timed QR window — auto-expires after duration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20040" y="2935224"/>
            <a:ext cx="5303520" cy="438912"/>
          </a:xfrm>
          <a:prstGeom prst="roundRect">
            <a:avLst>
              <a:gd name="adj" fmla="val 12500"/>
            </a:avLst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Shape 27"/>
          <p:cNvSpPr/>
          <p:nvPr/>
        </p:nvSpPr>
        <p:spPr>
          <a:xfrm>
            <a:off x="320040" y="2935224"/>
            <a:ext cx="36576" cy="438912"/>
          </a:xfrm>
          <a:prstGeom prst="rect">
            <a:avLst/>
          </a:prstGeom>
          <a:solidFill>
            <a:srgbClr val="3B82F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Shape 28"/>
          <p:cNvSpPr/>
          <p:nvPr/>
        </p:nvSpPr>
        <p:spPr>
          <a:xfrm>
            <a:off x="429768" y="2990088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1E40A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Text 29"/>
          <p:cNvSpPr/>
          <p:nvPr/>
        </p:nvSpPr>
        <p:spPr>
          <a:xfrm>
            <a:off x="429768" y="2971800"/>
            <a:ext cx="329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👤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850392" y="2990088"/>
            <a:ext cx="4617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scan per student — prevents duplicates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080760" y="1874520"/>
            <a:ext cx="5303520" cy="438912"/>
          </a:xfrm>
          <a:prstGeom prst="roundRect">
            <a:avLst>
              <a:gd name="adj" fmla="val 12500"/>
            </a:avLst>
          </a:prstGeom>
          <a:solidFill>
            <a:srgbClr val="11182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Shape 32"/>
          <p:cNvSpPr/>
          <p:nvPr/>
        </p:nvSpPr>
        <p:spPr>
          <a:xfrm>
            <a:off x="6080760" y="1874520"/>
            <a:ext cx="36576" cy="438912"/>
          </a:xfrm>
          <a:prstGeom prst="rect">
            <a:avLst/>
          </a:prstGeom>
          <a:solidFill>
            <a:srgbClr val="3B82F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Shape 33"/>
          <p:cNvSpPr/>
          <p:nvPr/>
        </p:nvSpPr>
        <p:spPr>
          <a:xfrm>
            <a:off x="6190488" y="1929384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1E40A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/>
          <p:nvPr/>
        </p:nvSpPr>
        <p:spPr>
          <a:xfrm>
            <a:off x="6190488" y="1911096"/>
            <a:ext cx="329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👁️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611112" y="1929384"/>
            <a:ext cx="4617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Faculty: real-time present/absent list view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080760" y="2404872"/>
            <a:ext cx="5303520" cy="438912"/>
          </a:xfrm>
          <a:prstGeom prst="roundRect">
            <a:avLst>
              <a:gd name="adj" fmla="val 12500"/>
            </a:avLst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9" name="Shape 37"/>
          <p:cNvSpPr/>
          <p:nvPr/>
        </p:nvSpPr>
        <p:spPr>
          <a:xfrm>
            <a:off x="6080760" y="2404872"/>
            <a:ext cx="36576" cy="438912"/>
          </a:xfrm>
          <a:prstGeom prst="rect">
            <a:avLst/>
          </a:prstGeom>
          <a:solidFill>
            <a:srgbClr val="3B82F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Shape 38"/>
          <p:cNvSpPr/>
          <p:nvPr/>
        </p:nvSpPr>
        <p:spPr>
          <a:xfrm>
            <a:off x="6190488" y="2459736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1E40A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6190488" y="2441448"/>
            <a:ext cx="329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611112" y="2459736"/>
            <a:ext cx="4617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timers, assign substitutes, cancel classes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6080760" y="2935224"/>
            <a:ext cx="5303520" cy="438912"/>
          </a:xfrm>
          <a:prstGeom prst="roundRect">
            <a:avLst>
              <a:gd name="adj" fmla="val 12500"/>
            </a:avLst>
          </a:prstGeom>
          <a:solidFill>
            <a:srgbClr val="11182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4" name="Shape 42"/>
          <p:cNvSpPr/>
          <p:nvPr/>
        </p:nvSpPr>
        <p:spPr>
          <a:xfrm>
            <a:off x="6080760" y="2935224"/>
            <a:ext cx="36576" cy="438912"/>
          </a:xfrm>
          <a:prstGeom prst="rect">
            <a:avLst/>
          </a:prstGeom>
          <a:solidFill>
            <a:srgbClr val="3B82F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5" name="Shape 43"/>
          <p:cNvSpPr/>
          <p:nvPr/>
        </p:nvSpPr>
        <p:spPr>
          <a:xfrm>
            <a:off x="6190488" y="2990088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1E40A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6190488" y="2971800"/>
            <a:ext cx="329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6611112" y="2990088"/>
            <a:ext cx="4617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to Excel/PDF with verification QR codes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3200400" y="3575304"/>
            <a:ext cx="5888736" cy="3107297"/>
          </a:xfrm>
          <a:prstGeom prst="roundRect">
            <a:avLst>
              <a:gd name="adj" fmla="val 5297"/>
            </a:avLst>
          </a:prstGeom>
          <a:solidFill>
            <a:srgbClr val="0000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9" name="Shape 47"/>
          <p:cNvSpPr/>
          <p:nvPr/>
        </p:nvSpPr>
        <p:spPr>
          <a:xfrm>
            <a:off x="3145536" y="3520440"/>
            <a:ext cx="5888736" cy="2924417"/>
          </a:xfrm>
          <a:prstGeom prst="roundRect">
            <a:avLst>
              <a:gd name="adj" fmla="val 3752"/>
            </a:avLst>
          </a:prstGeom>
          <a:solidFill>
            <a:srgbClr val="111827"/>
          </a:solidFill>
          <a:ln w="762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0" name="Shape 48"/>
          <p:cNvSpPr/>
          <p:nvPr/>
        </p:nvSpPr>
        <p:spPr>
          <a:xfrm>
            <a:off x="6035040" y="3611880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475569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1" name="Text 49"/>
          <p:cNvSpPr/>
          <p:nvPr/>
        </p:nvSpPr>
        <p:spPr>
          <a:xfrm>
            <a:off x="3602736" y="3575304"/>
            <a:ext cx="4974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Attendence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255264" y="3794760"/>
            <a:ext cx="5669280" cy="2576945"/>
          </a:xfrm>
          <a:prstGeom prst="roundRect">
            <a:avLst>
              <a:gd name="adj" fmla="val 1419"/>
            </a:avLst>
          </a:prstGeom>
          <a:solidFill>
            <a:srgbClr val="060D1B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53" name="Image 0" descr="C:\Users\dp862\OneDrive\Desktop\InstitutePluse\InstitutePluse\screenshoot\Attendence 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5264" y="3794760"/>
            <a:ext cx="5669280" cy="2576945"/>
          </a:xfrm>
          <a:prstGeom prst="rect">
            <a:avLst/>
          </a:prstGeom>
        </p:spPr>
      </p:pic>
      <p:sp>
        <p:nvSpPr>
          <p:cNvPr id="54" name="Shape 51"/>
          <p:cNvSpPr/>
          <p:nvPr/>
        </p:nvSpPr>
        <p:spPr>
          <a:xfrm>
            <a:off x="2916936" y="6463145"/>
            <a:ext cx="6345936" cy="201168"/>
          </a:xfrm>
          <a:prstGeom prst="roundRect">
            <a:avLst>
              <a:gd name="adj" fmla="val 18182"/>
            </a:avLst>
          </a:prstGeom>
          <a:solidFill>
            <a:srgbClr val="1E293B"/>
          </a:solidFill>
          <a:ln w="381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5" name="Shape 52"/>
          <p:cNvSpPr/>
          <p:nvPr/>
        </p:nvSpPr>
        <p:spPr>
          <a:xfrm>
            <a:off x="5724144" y="6508865"/>
            <a:ext cx="731520" cy="109728"/>
          </a:xfrm>
          <a:prstGeom prst="roundRect">
            <a:avLst>
              <a:gd name="adj" fmla="val 25000"/>
            </a:avLst>
          </a:prstGeom>
          <a:solidFill>
            <a:srgbClr val="475569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6" name="Shape 53"/>
          <p:cNvSpPr/>
          <p:nvPr/>
        </p:nvSpPr>
        <p:spPr>
          <a:xfrm>
            <a:off x="11430000" y="6446520"/>
            <a:ext cx="548640" cy="256032"/>
          </a:xfrm>
          <a:prstGeom prst="roundRect">
            <a:avLst>
              <a:gd name="adj" fmla="val 21429"/>
            </a:avLst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7" name="Text 54"/>
          <p:cNvSpPr/>
          <p:nvPr/>
        </p:nvSpPr>
        <p:spPr>
          <a:xfrm>
            <a:off x="11430000" y="6455664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6/12</a:t>
            </a:r>
            <a:endParaRPr lang="en-US" sz="900" dirty="0"/>
          </a:p>
        </p:txBody>
      </p:sp>
      <p:sp>
        <p:nvSpPr>
          <p:cNvPr id="58" name="Text 55"/>
          <p:cNvSpPr/>
          <p:nvPr/>
        </p:nvSpPr>
        <p:spPr>
          <a:xfrm>
            <a:off x="320040" y="6473952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InstitutePulse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3B82F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36576"/>
            <a:ext cx="12191695" cy="73152"/>
          </a:xfrm>
          <a:prstGeom prst="rect">
            <a:avLst/>
          </a:prstGeom>
          <a:solidFill>
            <a:srgbClr val="3B82F6">
              <a:alpha val="25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B82F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0" y="6748272"/>
            <a:ext cx="12191695" cy="73152"/>
          </a:xfrm>
          <a:prstGeom prst="rect">
            <a:avLst/>
          </a:prstGeom>
          <a:solidFill>
            <a:srgbClr val="3B82F6">
              <a:alpha val="20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228600" y="228600"/>
            <a:ext cx="457200" cy="18288"/>
          </a:xfrm>
          <a:prstGeom prst="rect">
            <a:avLst/>
          </a:prstGeom>
          <a:solidFill>
            <a:srgbClr val="3B82F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228600" y="228600"/>
            <a:ext cx="18288" cy="457200"/>
          </a:xfrm>
          <a:prstGeom prst="rect">
            <a:avLst/>
          </a:prstGeom>
          <a:solidFill>
            <a:srgbClr val="3B82F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11505895" y="6519672"/>
            <a:ext cx="457200" cy="18288"/>
          </a:xfrm>
          <a:prstGeom prst="rect">
            <a:avLst/>
          </a:prstGeom>
          <a:solidFill>
            <a:srgbClr val="3B82F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11944807" y="6062472"/>
            <a:ext cx="18288" cy="475488"/>
          </a:xfrm>
          <a:prstGeom prst="rect">
            <a:avLst/>
          </a:prstGeom>
          <a:solidFill>
            <a:srgbClr val="3B82F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320040" y="2743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E40AF"/>
          </a:solidFill>
          <a:ln w="762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320040" y="274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914400" y="365760"/>
            <a:ext cx="941832" cy="274320"/>
          </a:xfrm>
          <a:prstGeom prst="roundRect">
            <a:avLst>
              <a:gd name="adj" fmla="val 20000"/>
            </a:avLst>
          </a:prstGeom>
          <a:solidFill>
            <a:srgbClr val="020617"/>
          </a:solidFill>
          <a:ln w="762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987552" y="374904"/>
            <a:ext cx="7955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914400" y="77724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 Dashboard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914400" y="1280160"/>
            <a:ext cx="3657600" cy="27432"/>
          </a:xfrm>
          <a:prstGeom prst="rect">
            <a:avLst/>
          </a:prstGeom>
          <a:solidFill>
            <a:srgbClr val="3B82F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Shape 14"/>
          <p:cNvSpPr/>
          <p:nvPr/>
        </p:nvSpPr>
        <p:spPr>
          <a:xfrm>
            <a:off x="914400" y="1307592"/>
            <a:ext cx="1828800" cy="18288"/>
          </a:xfrm>
          <a:prstGeom prst="rect">
            <a:avLst/>
          </a:prstGeom>
          <a:solidFill>
            <a:srgbClr val="3B82F6">
              <a:alpha val="40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914400" y="14173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class management &amp; academic resource hub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20040" y="1874520"/>
            <a:ext cx="5303520" cy="438912"/>
          </a:xfrm>
          <a:prstGeom prst="roundRect">
            <a:avLst>
              <a:gd name="adj" fmla="val 12500"/>
            </a:avLst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Shape 17"/>
          <p:cNvSpPr/>
          <p:nvPr/>
        </p:nvSpPr>
        <p:spPr>
          <a:xfrm>
            <a:off x="320040" y="1874520"/>
            <a:ext cx="36576" cy="438912"/>
          </a:xfrm>
          <a:prstGeom prst="rect">
            <a:avLst/>
          </a:prstGeom>
          <a:solidFill>
            <a:srgbClr val="3B82F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429768" y="1929384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1E40A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29768" y="1911096"/>
            <a:ext cx="329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50392" y="1929384"/>
            <a:ext cx="4617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classes: cancel, reschedule, swap rooms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20040" y="2404872"/>
            <a:ext cx="5303520" cy="438912"/>
          </a:xfrm>
          <a:prstGeom prst="roundRect">
            <a:avLst>
              <a:gd name="adj" fmla="val 12500"/>
            </a:avLst>
          </a:prstGeom>
          <a:solidFill>
            <a:srgbClr val="11182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Shape 22"/>
          <p:cNvSpPr/>
          <p:nvPr/>
        </p:nvSpPr>
        <p:spPr>
          <a:xfrm>
            <a:off x="320040" y="2404872"/>
            <a:ext cx="36576" cy="438912"/>
          </a:xfrm>
          <a:prstGeom prst="rect">
            <a:avLst/>
          </a:prstGeom>
          <a:solidFill>
            <a:srgbClr val="3B82F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429768" y="2459736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1E40A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429768" y="2441448"/>
            <a:ext cx="329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50392" y="2459736"/>
            <a:ext cx="4617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substitute faculty with one click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20040" y="2935224"/>
            <a:ext cx="5303520" cy="438912"/>
          </a:xfrm>
          <a:prstGeom prst="roundRect">
            <a:avLst>
              <a:gd name="adj" fmla="val 12500"/>
            </a:avLst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Shape 27"/>
          <p:cNvSpPr/>
          <p:nvPr/>
        </p:nvSpPr>
        <p:spPr>
          <a:xfrm>
            <a:off x="320040" y="2935224"/>
            <a:ext cx="36576" cy="438912"/>
          </a:xfrm>
          <a:prstGeom prst="rect">
            <a:avLst/>
          </a:prstGeom>
          <a:solidFill>
            <a:srgbClr val="3B82F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Shape 28"/>
          <p:cNvSpPr/>
          <p:nvPr/>
        </p:nvSpPr>
        <p:spPr>
          <a:xfrm>
            <a:off x="429768" y="2990088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1E40A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Text 29"/>
          <p:cNvSpPr/>
          <p:nvPr/>
        </p:nvSpPr>
        <p:spPr>
          <a:xfrm>
            <a:off x="429768" y="2971800"/>
            <a:ext cx="329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850392" y="2990088"/>
            <a:ext cx="4617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Resource Hub: upload PDFs &amp; videos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080760" y="1874520"/>
            <a:ext cx="5303520" cy="438912"/>
          </a:xfrm>
          <a:prstGeom prst="roundRect">
            <a:avLst>
              <a:gd name="adj" fmla="val 12500"/>
            </a:avLst>
          </a:prstGeom>
          <a:solidFill>
            <a:srgbClr val="11182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Shape 32"/>
          <p:cNvSpPr/>
          <p:nvPr/>
        </p:nvSpPr>
        <p:spPr>
          <a:xfrm>
            <a:off x="6080760" y="1874520"/>
            <a:ext cx="36576" cy="438912"/>
          </a:xfrm>
          <a:prstGeom prst="rect">
            <a:avLst/>
          </a:prstGeom>
          <a:solidFill>
            <a:srgbClr val="3B82F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Shape 33"/>
          <p:cNvSpPr/>
          <p:nvPr/>
        </p:nvSpPr>
        <p:spPr>
          <a:xfrm>
            <a:off x="6190488" y="1929384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1E40A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/>
          <p:nvPr/>
        </p:nvSpPr>
        <p:spPr>
          <a:xfrm>
            <a:off x="6190488" y="1911096"/>
            <a:ext cx="329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🏅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611112" y="1929384"/>
            <a:ext cx="4617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Award XP trophies directly to students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080760" y="2404872"/>
            <a:ext cx="5303520" cy="438912"/>
          </a:xfrm>
          <a:prstGeom prst="roundRect">
            <a:avLst>
              <a:gd name="adj" fmla="val 12500"/>
            </a:avLst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9" name="Shape 37"/>
          <p:cNvSpPr/>
          <p:nvPr/>
        </p:nvSpPr>
        <p:spPr>
          <a:xfrm>
            <a:off x="6080760" y="2404872"/>
            <a:ext cx="36576" cy="438912"/>
          </a:xfrm>
          <a:prstGeom prst="rect">
            <a:avLst/>
          </a:prstGeom>
          <a:solidFill>
            <a:srgbClr val="3B82F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Shape 38"/>
          <p:cNvSpPr/>
          <p:nvPr/>
        </p:nvSpPr>
        <p:spPr>
          <a:xfrm>
            <a:off x="6190488" y="2459736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1E40A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6190488" y="2441448"/>
            <a:ext cx="329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611112" y="2459736"/>
            <a:ext cx="4617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notifications to student devices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6080760" y="2935224"/>
            <a:ext cx="5303520" cy="438912"/>
          </a:xfrm>
          <a:prstGeom prst="roundRect">
            <a:avLst>
              <a:gd name="adj" fmla="val 12500"/>
            </a:avLst>
          </a:prstGeom>
          <a:solidFill>
            <a:srgbClr val="11182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4" name="Shape 42"/>
          <p:cNvSpPr/>
          <p:nvPr/>
        </p:nvSpPr>
        <p:spPr>
          <a:xfrm>
            <a:off x="6080760" y="2935224"/>
            <a:ext cx="36576" cy="438912"/>
          </a:xfrm>
          <a:prstGeom prst="rect">
            <a:avLst/>
          </a:prstGeom>
          <a:solidFill>
            <a:srgbClr val="3B82F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5" name="Shape 43"/>
          <p:cNvSpPr/>
          <p:nvPr/>
        </p:nvSpPr>
        <p:spPr>
          <a:xfrm>
            <a:off x="6190488" y="2990088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1E40A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6190488" y="2971800"/>
            <a:ext cx="329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6611112" y="2990088"/>
            <a:ext cx="4617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history &amp; analytics per batch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3200400" y="3575304"/>
            <a:ext cx="5888736" cy="3107297"/>
          </a:xfrm>
          <a:prstGeom prst="roundRect">
            <a:avLst>
              <a:gd name="adj" fmla="val 5297"/>
            </a:avLst>
          </a:prstGeom>
          <a:solidFill>
            <a:srgbClr val="0000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9" name="Shape 47"/>
          <p:cNvSpPr/>
          <p:nvPr/>
        </p:nvSpPr>
        <p:spPr>
          <a:xfrm>
            <a:off x="3145536" y="3520440"/>
            <a:ext cx="5888736" cy="2924417"/>
          </a:xfrm>
          <a:prstGeom prst="roundRect">
            <a:avLst>
              <a:gd name="adj" fmla="val 3752"/>
            </a:avLst>
          </a:prstGeom>
          <a:solidFill>
            <a:srgbClr val="111827"/>
          </a:solidFill>
          <a:ln w="762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0" name="Shape 48"/>
          <p:cNvSpPr/>
          <p:nvPr/>
        </p:nvSpPr>
        <p:spPr>
          <a:xfrm>
            <a:off x="6035040" y="3611880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475569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1" name="Text 49"/>
          <p:cNvSpPr/>
          <p:nvPr/>
        </p:nvSpPr>
        <p:spPr>
          <a:xfrm>
            <a:off x="3602736" y="3575304"/>
            <a:ext cx="4974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 dashboard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255264" y="3794760"/>
            <a:ext cx="5669280" cy="2576945"/>
          </a:xfrm>
          <a:prstGeom prst="roundRect">
            <a:avLst>
              <a:gd name="adj" fmla="val 1419"/>
            </a:avLst>
          </a:prstGeom>
          <a:solidFill>
            <a:srgbClr val="060D1B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53" name="Image 0" descr="C:\Users\dp862\OneDrive\Desktop\InstitutePluse\InstitutePluse\screenshoot\faculty dashboard 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5264" y="3794760"/>
            <a:ext cx="5669280" cy="2576945"/>
          </a:xfrm>
          <a:prstGeom prst="rect">
            <a:avLst/>
          </a:prstGeom>
        </p:spPr>
      </p:pic>
      <p:sp>
        <p:nvSpPr>
          <p:cNvPr id="54" name="Shape 51"/>
          <p:cNvSpPr/>
          <p:nvPr/>
        </p:nvSpPr>
        <p:spPr>
          <a:xfrm>
            <a:off x="2916936" y="6463145"/>
            <a:ext cx="6345936" cy="201168"/>
          </a:xfrm>
          <a:prstGeom prst="roundRect">
            <a:avLst>
              <a:gd name="adj" fmla="val 18182"/>
            </a:avLst>
          </a:prstGeom>
          <a:solidFill>
            <a:srgbClr val="1E293B"/>
          </a:solidFill>
          <a:ln w="381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5" name="Shape 52"/>
          <p:cNvSpPr/>
          <p:nvPr/>
        </p:nvSpPr>
        <p:spPr>
          <a:xfrm>
            <a:off x="5724144" y="6508865"/>
            <a:ext cx="731520" cy="109728"/>
          </a:xfrm>
          <a:prstGeom prst="roundRect">
            <a:avLst>
              <a:gd name="adj" fmla="val 25000"/>
            </a:avLst>
          </a:prstGeom>
          <a:solidFill>
            <a:srgbClr val="475569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6" name="Shape 53"/>
          <p:cNvSpPr/>
          <p:nvPr/>
        </p:nvSpPr>
        <p:spPr>
          <a:xfrm>
            <a:off x="11430000" y="6446520"/>
            <a:ext cx="548640" cy="256032"/>
          </a:xfrm>
          <a:prstGeom prst="roundRect">
            <a:avLst>
              <a:gd name="adj" fmla="val 21429"/>
            </a:avLst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7" name="Text 54"/>
          <p:cNvSpPr/>
          <p:nvPr/>
        </p:nvSpPr>
        <p:spPr>
          <a:xfrm>
            <a:off x="11430000" y="6455664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7/12</a:t>
            </a:r>
            <a:endParaRPr lang="en-US" sz="900" dirty="0"/>
          </a:p>
        </p:txBody>
      </p:sp>
      <p:sp>
        <p:nvSpPr>
          <p:cNvPr id="58" name="Text 55"/>
          <p:cNvSpPr/>
          <p:nvPr/>
        </p:nvSpPr>
        <p:spPr>
          <a:xfrm>
            <a:off x="320040" y="6473952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InstitutePulse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36576"/>
            <a:ext cx="12191695" cy="73152"/>
          </a:xfrm>
          <a:prstGeom prst="rect">
            <a:avLst/>
          </a:prstGeom>
          <a:solidFill>
            <a:srgbClr val="F59E0B">
              <a:alpha val="25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0" y="6748272"/>
            <a:ext cx="12191695" cy="73152"/>
          </a:xfrm>
          <a:prstGeom prst="rect">
            <a:avLst/>
          </a:prstGeom>
          <a:solidFill>
            <a:srgbClr val="F59E0B">
              <a:alpha val="20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228600" y="228600"/>
            <a:ext cx="457200" cy="18288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228600" y="228600"/>
            <a:ext cx="18288" cy="457200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11505895" y="6519672"/>
            <a:ext cx="457200" cy="18288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11944807" y="6062472"/>
            <a:ext cx="18288" cy="475488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320040" y="2743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92400E"/>
          </a:solidFill>
          <a:ln w="762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320040" y="274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914400" y="365760"/>
            <a:ext cx="1106424" cy="274320"/>
          </a:xfrm>
          <a:prstGeom prst="roundRect">
            <a:avLst>
              <a:gd name="adj" fmla="val 20000"/>
            </a:avLst>
          </a:prstGeom>
          <a:solidFill>
            <a:srgbClr val="020617"/>
          </a:solidFill>
          <a:ln w="762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987552" y="374904"/>
            <a:ext cx="960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CAFETERIA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914400" y="77724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Eco-Cafeteria Hub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914400" y="1280160"/>
            <a:ext cx="3657600" cy="27432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Shape 14"/>
          <p:cNvSpPr/>
          <p:nvPr/>
        </p:nvSpPr>
        <p:spPr>
          <a:xfrm>
            <a:off x="914400" y="1307592"/>
            <a:ext cx="1828800" cy="18288"/>
          </a:xfrm>
          <a:prstGeom prst="rect">
            <a:avLst/>
          </a:prstGeom>
          <a:solidFill>
            <a:srgbClr val="F59E0B">
              <a:alpha val="40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914400" y="14173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canteen ordering with carbon labels per menu item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20040" y="1874520"/>
            <a:ext cx="5303520" cy="438912"/>
          </a:xfrm>
          <a:prstGeom prst="roundRect">
            <a:avLst>
              <a:gd name="adj" fmla="val 12500"/>
            </a:avLst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Shape 17"/>
          <p:cNvSpPr/>
          <p:nvPr/>
        </p:nvSpPr>
        <p:spPr>
          <a:xfrm>
            <a:off x="320040" y="1874520"/>
            <a:ext cx="36576" cy="438912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429768" y="1929384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92400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29768" y="1911096"/>
            <a:ext cx="329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🍽️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50392" y="1929384"/>
            <a:ext cx="4617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digital menu with pricing &amp; carbon weight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20040" y="2404872"/>
            <a:ext cx="5303520" cy="438912"/>
          </a:xfrm>
          <a:prstGeom prst="roundRect">
            <a:avLst>
              <a:gd name="adj" fmla="val 12500"/>
            </a:avLst>
          </a:prstGeom>
          <a:solidFill>
            <a:srgbClr val="11182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Shape 22"/>
          <p:cNvSpPr/>
          <p:nvPr/>
        </p:nvSpPr>
        <p:spPr>
          <a:xfrm>
            <a:off x="320040" y="2404872"/>
            <a:ext cx="36576" cy="438912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429768" y="2459736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92400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429768" y="2441448"/>
            <a:ext cx="329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🌿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50392" y="2459736"/>
            <a:ext cx="4617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Carbon labels: Idli 0.3 kg, Egg Rice 1.0 kg CO₂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20040" y="2935224"/>
            <a:ext cx="5303520" cy="438912"/>
          </a:xfrm>
          <a:prstGeom prst="roundRect">
            <a:avLst>
              <a:gd name="adj" fmla="val 12500"/>
            </a:avLst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Shape 27"/>
          <p:cNvSpPr/>
          <p:nvPr/>
        </p:nvSpPr>
        <p:spPr>
          <a:xfrm>
            <a:off x="320040" y="2935224"/>
            <a:ext cx="36576" cy="438912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Shape 28"/>
          <p:cNvSpPr/>
          <p:nvPr/>
        </p:nvSpPr>
        <p:spPr>
          <a:xfrm>
            <a:off x="429768" y="2990088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92400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Text 29"/>
          <p:cNvSpPr/>
          <p:nvPr/>
        </p:nvSpPr>
        <p:spPr>
          <a:xfrm>
            <a:off x="429768" y="2971800"/>
            <a:ext cx="329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🛒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850392" y="2990088"/>
            <a:ext cx="4617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 shows cumulative price + CO₂ impact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080760" y="1874520"/>
            <a:ext cx="5303520" cy="438912"/>
          </a:xfrm>
          <a:prstGeom prst="roundRect">
            <a:avLst>
              <a:gd name="adj" fmla="val 12500"/>
            </a:avLst>
          </a:prstGeom>
          <a:solidFill>
            <a:srgbClr val="11182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Shape 32"/>
          <p:cNvSpPr/>
          <p:nvPr/>
        </p:nvSpPr>
        <p:spPr>
          <a:xfrm>
            <a:off x="6080760" y="1874520"/>
            <a:ext cx="36576" cy="438912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Shape 33"/>
          <p:cNvSpPr/>
          <p:nvPr/>
        </p:nvSpPr>
        <p:spPr>
          <a:xfrm>
            <a:off x="6190488" y="1929384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92400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/>
          <p:nvPr/>
        </p:nvSpPr>
        <p:spPr>
          <a:xfrm>
            <a:off x="6190488" y="1911096"/>
            <a:ext cx="329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611112" y="1929384"/>
            <a:ext cx="4617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receipt generation for order pickup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080760" y="2404872"/>
            <a:ext cx="5303520" cy="438912"/>
          </a:xfrm>
          <a:prstGeom prst="roundRect">
            <a:avLst>
              <a:gd name="adj" fmla="val 12500"/>
            </a:avLst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9" name="Shape 37"/>
          <p:cNvSpPr/>
          <p:nvPr/>
        </p:nvSpPr>
        <p:spPr>
          <a:xfrm>
            <a:off x="6080760" y="2404872"/>
            <a:ext cx="36576" cy="438912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Shape 38"/>
          <p:cNvSpPr/>
          <p:nvPr/>
        </p:nvSpPr>
        <p:spPr>
          <a:xfrm>
            <a:off x="6190488" y="2459736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92400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6190488" y="2441448"/>
            <a:ext cx="329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611112" y="2459736"/>
            <a:ext cx="4617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status: Pending → Ready → Delivered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6080760" y="2935224"/>
            <a:ext cx="5303520" cy="438912"/>
          </a:xfrm>
          <a:prstGeom prst="roundRect">
            <a:avLst>
              <a:gd name="adj" fmla="val 12500"/>
            </a:avLst>
          </a:prstGeom>
          <a:solidFill>
            <a:srgbClr val="11182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4" name="Shape 42"/>
          <p:cNvSpPr/>
          <p:nvPr/>
        </p:nvSpPr>
        <p:spPr>
          <a:xfrm>
            <a:off x="6080760" y="2935224"/>
            <a:ext cx="36576" cy="438912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5" name="Shape 43"/>
          <p:cNvSpPr/>
          <p:nvPr/>
        </p:nvSpPr>
        <p:spPr>
          <a:xfrm>
            <a:off x="6190488" y="2990088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92400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6190488" y="2971800"/>
            <a:ext cx="329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📷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6611112" y="2990088"/>
            <a:ext cx="4617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Canteen owner scanner for instant fulfillment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3200400" y="3575304"/>
            <a:ext cx="5888736" cy="3107297"/>
          </a:xfrm>
          <a:prstGeom prst="roundRect">
            <a:avLst>
              <a:gd name="adj" fmla="val 5297"/>
            </a:avLst>
          </a:prstGeom>
          <a:solidFill>
            <a:srgbClr val="0000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9" name="Shape 47"/>
          <p:cNvSpPr/>
          <p:nvPr/>
        </p:nvSpPr>
        <p:spPr>
          <a:xfrm>
            <a:off x="3145536" y="3520440"/>
            <a:ext cx="5888736" cy="2924417"/>
          </a:xfrm>
          <a:prstGeom prst="roundRect">
            <a:avLst>
              <a:gd name="adj" fmla="val 3752"/>
            </a:avLst>
          </a:prstGeom>
          <a:solidFill>
            <a:srgbClr val="111827"/>
          </a:solidFill>
          <a:ln w="762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0" name="Shape 48"/>
          <p:cNvSpPr/>
          <p:nvPr/>
        </p:nvSpPr>
        <p:spPr>
          <a:xfrm>
            <a:off x="6035040" y="3611880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475569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1" name="Text 49"/>
          <p:cNvSpPr/>
          <p:nvPr/>
        </p:nvSpPr>
        <p:spPr>
          <a:xfrm>
            <a:off x="3602736" y="3575304"/>
            <a:ext cx="4974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Cafeteria Hub Manage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255264" y="3794760"/>
            <a:ext cx="5669280" cy="2576945"/>
          </a:xfrm>
          <a:prstGeom prst="roundRect">
            <a:avLst>
              <a:gd name="adj" fmla="val 1419"/>
            </a:avLst>
          </a:prstGeom>
          <a:solidFill>
            <a:srgbClr val="060D1B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53" name="Image 0" descr="C:\Users\dp862\OneDrive\Desktop\InstitutePluse\InstitutePluse\screenshoot\Cafeteria Hub Manage 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5264" y="3794760"/>
            <a:ext cx="5669280" cy="2576945"/>
          </a:xfrm>
          <a:prstGeom prst="rect">
            <a:avLst/>
          </a:prstGeom>
        </p:spPr>
      </p:pic>
      <p:sp>
        <p:nvSpPr>
          <p:cNvPr id="54" name="Shape 51"/>
          <p:cNvSpPr/>
          <p:nvPr/>
        </p:nvSpPr>
        <p:spPr>
          <a:xfrm>
            <a:off x="2916936" y="6463145"/>
            <a:ext cx="6345936" cy="201168"/>
          </a:xfrm>
          <a:prstGeom prst="roundRect">
            <a:avLst>
              <a:gd name="adj" fmla="val 18182"/>
            </a:avLst>
          </a:prstGeom>
          <a:solidFill>
            <a:srgbClr val="1E293B"/>
          </a:solidFill>
          <a:ln w="381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5" name="Shape 52"/>
          <p:cNvSpPr/>
          <p:nvPr/>
        </p:nvSpPr>
        <p:spPr>
          <a:xfrm>
            <a:off x="5724144" y="6508865"/>
            <a:ext cx="731520" cy="109728"/>
          </a:xfrm>
          <a:prstGeom prst="roundRect">
            <a:avLst>
              <a:gd name="adj" fmla="val 25000"/>
            </a:avLst>
          </a:prstGeom>
          <a:solidFill>
            <a:srgbClr val="475569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6" name="Shape 53"/>
          <p:cNvSpPr/>
          <p:nvPr/>
        </p:nvSpPr>
        <p:spPr>
          <a:xfrm>
            <a:off x="11430000" y="6446520"/>
            <a:ext cx="548640" cy="256032"/>
          </a:xfrm>
          <a:prstGeom prst="roundRect">
            <a:avLst>
              <a:gd name="adj" fmla="val 21429"/>
            </a:avLst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7" name="Text 54"/>
          <p:cNvSpPr/>
          <p:nvPr/>
        </p:nvSpPr>
        <p:spPr>
          <a:xfrm>
            <a:off x="11430000" y="6455664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8/12</a:t>
            </a:r>
            <a:endParaRPr lang="en-US" sz="900" dirty="0"/>
          </a:p>
        </p:txBody>
      </p:sp>
      <p:sp>
        <p:nvSpPr>
          <p:cNvPr id="58" name="Text 55"/>
          <p:cNvSpPr/>
          <p:nvPr/>
        </p:nvSpPr>
        <p:spPr>
          <a:xfrm>
            <a:off x="320040" y="6473952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InstitutePulse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36576"/>
            <a:ext cx="12191695" cy="73152"/>
          </a:xfrm>
          <a:prstGeom prst="rect">
            <a:avLst/>
          </a:prstGeom>
          <a:solidFill>
            <a:srgbClr val="F59E0B">
              <a:alpha val="25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0" y="6748272"/>
            <a:ext cx="12191695" cy="73152"/>
          </a:xfrm>
          <a:prstGeom prst="rect">
            <a:avLst/>
          </a:prstGeom>
          <a:solidFill>
            <a:srgbClr val="F59E0B">
              <a:alpha val="20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228600" y="228600"/>
            <a:ext cx="457200" cy="18288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228600" y="228600"/>
            <a:ext cx="18288" cy="457200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11505895" y="6519672"/>
            <a:ext cx="457200" cy="18288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11944807" y="6062472"/>
            <a:ext cx="18288" cy="475488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320040" y="2743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92400E"/>
          </a:solidFill>
          <a:ln w="762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320040" y="274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914400" y="365760"/>
            <a:ext cx="859536" cy="274320"/>
          </a:xfrm>
          <a:prstGeom prst="roundRect">
            <a:avLst>
              <a:gd name="adj" fmla="val 20000"/>
            </a:avLst>
          </a:prstGeom>
          <a:solidFill>
            <a:srgbClr val="020617"/>
          </a:solidFill>
          <a:ln w="762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987552" y="374904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914400" y="77724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&amp; Team Registration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914400" y="1280160"/>
            <a:ext cx="3657600" cy="27432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Shape 14"/>
          <p:cNvSpPr/>
          <p:nvPr/>
        </p:nvSpPr>
        <p:spPr>
          <a:xfrm>
            <a:off x="914400" y="1307592"/>
            <a:ext cx="1828800" cy="18288"/>
          </a:xfrm>
          <a:prstGeom prst="rect">
            <a:avLst/>
          </a:prstGeom>
          <a:solidFill>
            <a:srgbClr val="F59E0B">
              <a:alpha val="40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914400" y="14173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/ Duo / Trio / Squad event registration with invite system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20040" y="1874520"/>
            <a:ext cx="5303520" cy="438912"/>
          </a:xfrm>
          <a:prstGeom prst="roundRect">
            <a:avLst>
              <a:gd name="adj" fmla="val 12500"/>
            </a:avLst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Shape 17"/>
          <p:cNvSpPr/>
          <p:nvPr/>
        </p:nvSpPr>
        <p:spPr>
          <a:xfrm>
            <a:off x="320040" y="1874520"/>
            <a:ext cx="36576" cy="438912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429768" y="1929384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92400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29768" y="1911096"/>
            <a:ext cx="329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👥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50392" y="1929384"/>
            <a:ext cx="4617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team formats: Solo, Duo, Trio, Squad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20040" y="2404872"/>
            <a:ext cx="5303520" cy="438912"/>
          </a:xfrm>
          <a:prstGeom prst="roundRect">
            <a:avLst>
              <a:gd name="adj" fmla="val 12500"/>
            </a:avLst>
          </a:prstGeom>
          <a:solidFill>
            <a:srgbClr val="11182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Shape 22"/>
          <p:cNvSpPr/>
          <p:nvPr/>
        </p:nvSpPr>
        <p:spPr>
          <a:xfrm>
            <a:off x="320040" y="2404872"/>
            <a:ext cx="36576" cy="438912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429768" y="2459736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92400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429768" y="2441448"/>
            <a:ext cx="329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50392" y="2459736"/>
            <a:ext cx="4617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Classmate search &amp; invite system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20040" y="2935224"/>
            <a:ext cx="5303520" cy="438912"/>
          </a:xfrm>
          <a:prstGeom prst="roundRect">
            <a:avLst>
              <a:gd name="adj" fmla="val 12500"/>
            </a:avLst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Shape 27"/>
          <p:cNvSpPr/>
          <p:nvPr/>
        </p:nvSpPr>
        <p:spPr>
          <a:xfrm>
            <a:off x="320040" y="2935224"/>
            <a:ext cx="36576" cy="438912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Shape 28"/>
          <p:cNvSpPr/>
          <p:nvPr/>
        </p:nvSpPr>
        <p:spPr>
          <a:xfrm>
            <a:off x="429768" y="2990088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92400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Text 29"/>
          <p:cNvSpPr/>
          <p:nvPr/>
        </p:nvSpPr>
        <p:spPr>
          <a:xfrm>
            <a:off x="429768" y="2971800"/>
            <a:ext cx="329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850392" y="2990088"/>
            <a:ext cx="4617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Leader-only chat rooms for coordination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080760" y="1874520"/>
            <a:ext cx="5303520" cy="438912"/>
          </a:xfrm>
          <a:prstGeom prst="roundRect">
            <a:avLst>
              <a:gd name="adj" fmla="val 12500"/>
            </a:avLst>
          </a:prstGeom>
          <a:solidFill>
            <a:srgbClr val="11182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Shape 32"/>
          <p:cNvSpPr/>
          <p:nvPr/>
        </p:nvSpPr>
        <p:spPr>
          <a:xfrm>
            <a:off x="6080760" y="1874520"/>
            <a:ext cx="36576" cy="438912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Shape 33"/>
          <p:cNvSpPr/>
          <p:nvPr/>
        </p:nvSpPr>
        <p:spPr>
          <a:xfrm>
            <a:off x="6190488" y="1929384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92400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/>
          <p:nvPr/>
        </p:nvSpPr>
        <p:spPr>
          <a:xfrm>
            <a:off x="6190488" y="1911096"/>
            <a:ext cx="329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611112" y="1929384"/>
            <a:ext cx="4617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&amp; PDF export with verification QR codes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080760" y="2404872"/>
            <a:ext cx="5303520" cy="438912"/>
          </a:xfrm>
          <a:prstGeom prst="roundRect">
            <a:avLst>
              <a:gd name="adj" fmla="val 12500"/>
            </a:avLst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9" name="Shape 37"/>
          <p:cNvSpPr/>
          <p:nvPr/>
        </p:nvSpPr>
        <p:spPr>
          <a:xfrm>
            <a:off x="6080760" y="2404872"/>
            <a:ext cx="36576" cy="438912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Shape 38"/>
          <p:cNvSpPr/>
          <p:nvPr/>
        </p:nvSpPr>
        <p:spPr>
          <a:xfrm>
            <a:off x="6190488" y="2459736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92400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6190488" y="2441448"/>
            <a:ext cx="329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⏰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611112" y="2459736"/>
            <a:ext cx="4617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countdown timers &amp; reminders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6080760" y="2935224"/>
            <a:ext cx="5303520" cy="438912"/>
          </a:xfrm>
          <a:prstGeom prst="roundRect">
            <a:avLst>
              <a:gd name="adj" fmla="val 12500"/>
            </a:avLst>
          </a:prstGeom>
          <a:solidFill>
            <a:srgbClr val="11182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4" name="Shape 42"/>
          <p:cNvSpPr/>
          <p:nvPr/>
        </p:nvSpPr>
        <p:spPr>
          <a:xfrm>
            <a:off x="6080760" y="2935224"/>
            <a:ext cx="36576" cy="438912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5" name="Shape 43"/>
          <p:cNvSpPr/>
          <p:nvPr/>
        </p:nvSpPr>
        <p:spPr>
          <a:xfrm>
            <a:off x="6190488" y="2990088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92400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6190488" y="2971800"/>
            <a:ext cx="329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6611112" y="2990088"/>
            <a:ext cx="4617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event creation &amp; management panel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420624" y="3712464"/>
            <a:ext cx="5248656" cy="2816352"/>
          </a:xfrm>
          <a:prstGeom prst="roundRect">
            <a:avLst>
              <a:gd name="adj" fmla="val 5844"/>
            </a:avLst>
          </a:prstGeom>
          <a:solidFill>
            <a:srgbClr val="0000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9" name="Shape 47"/>
          <p:cNvSpPr/>
          <p:nvPr/>
        </p:nvSpPr>
        <p:spPr>
          <a:xfrm>
            <a:off x="365760" y="3657600"/>
            <a:ext cx="5248656" cy="2633472"/>
          </a:xfrm>
          <a:prstGeom prst="roundRect">
            <a:avLst>
              <a:gd name="adj" fmla="val 4167"/>
            </a:avLst>
          </a:prstGeom>
          <a:solidFill>
            <a:srgbClr val="111827"/>
          </a:solidFill>
          <a:ln w="762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0" name="Shape 48"/>
          <p:cNvSpPr/>
          <p:nvPr/>
        </p:nvSpPr>
        <p:spPr>
          <a:xfrm>
            <a:off x="2935224" y="3749040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475569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1" name="Text 49"/>
          <p:cNvSpPr/>
          <p:nvPr/>
        </p:nvSpPr>
        <p:spPr>
          <a:xfrm>
            <a:off x="822960" y="3712464"/>
            <a:ext cx="43342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Mange Event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75488" y="3931920"/>
            <a:ext cx="5029200" cy="2286000"/>
          </a:xfrm>
          <a:prstGeom prst="roundRect">
            <a:avLst>
              <a:gd name="adj" fmla="val 1600"/>
            </a:avLst>
          </a:prstGeom>
          <a:solidFill>
            <a:srgbClr val="060D1B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53" name="Image 0" descr="C:\Users\dp862\OneDrive\Desktop\InstitutePluse\InstitutePluse\screenshoot\Mange Event 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3931920"/>
            <a:ext cx="5029200" cy="2286000"/>
          </a:xfrm>
          <a:prstGeom prst="rect">
            <a:avLst/>
          </a:prstGeom>
        </p:spPr>
      </p:pic>
      <p:sp>
        <p:nvSpPr>
          <p:cNvPr id="54" name="Shape 51"/>
          <p:cNvSpPr/>
          <p:nvPr/>
        </p:nvSpPr>
        <p:spPr>
          <a:xfrm>
            <a:off x="137160" y="6309360"/>
            <a:ext cx="5705856" cy="201168"/>
          </a:xfrm>
          <a:prstGeom prst="roundRect">
            <a:avLst>
              <a:gd name="adj" fmla="val 18182"/>
            </a:avLst>
          </a:prstGeom>
          <a:solidFill>
            <a:srgbClr val="1E293B"/>
          </a:solidFill>
          <a:ln w="381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5" name="Shape 52"/>
          <p:cNvSpPr/>
          <p:nvPr/>
        </p:nvSpPr>
        <p:spPr>
          <a:xfrm>
            <a:off x="2624328" y="6355080"/>
            <a:ext cx="731520" cy="109728"/>
          </a:xfrm>
          <a:prstGeom prst="roundRect">
            <a:avLst>
              <a:gd name="adj" fmla="val 25000"/>
            </a:avLst>
          </a:prstGeom>
          <a:solidFill>
            <a:srgbClr val="475569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6" name="Shape 53"/>
          <p:cNvSpPr/>
          <p:nvPr/>
        </p:nvSpPr>
        <p:spPr>
          <a:xfrm>
            <a:off x="6455664" y="3712464"/>
            <a:ext cx="5248656" cy="2816352"/>
          </a:xfrm>
          <a:prstGeom prst="roundRect">
            <a:avLst>
              <a:gd name="adj" fmla="val 5844"/>
            </a:avLst>
          </a:prstGeom>
          <a:solidFill>
            <a:srgbClr val="0000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7" name="Shape 54"/>
          <p:cNvSpPr/>
          <p:nvPr/>
        </p:nvSpPr>
        <p:spPr>
          <a:xfrm>
            <a:off x="6400800" y="3657600"/>
            <a:ext cx="5248656" cy="2633472"/>
          </a:xfrm>
          <a:prstGeom prst="roundRect">
            <a:avLst>
              <a:gd name="adj" fmla="val 4167"/>
            </a:avLst>
          </a:prstGeom>
          <a:solidFill>
            <a:srgbClr val="111827"/>
          </a:solidFill>
          <a:ln w="762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8" name="Shape 55"/>
          <p:cNvSpPr/>
          <p:nvPr/>
        </p:nvSpPr>
        <p:spPr>
          <a:xfrm>
            <a:off x="8970264" y="3749040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475569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9" name="Text 56"/>
          <p:cNvSpPr/>
          <p:nvPr/>
        </p:nvSpPr>
        <p:spPr>
          <a:xfrm>
            <a:off x="6858000" y="3712464"/>
            <a:ext cx="43342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invaition of event</a:t>
            </a:r>
            <a:endParaRPr lang="en-US" sz="900" dirty="0"/>
          </a:p>
        </p:txBody>
      </p:sp>
      <p:sp>
        <p:nvSpPr>
          <p:cNvPr id="60" name="Shape 57"/>
          <p:cNvSpPr/>
          <p:nvPr/>
        </p:nvSpPr>
        <p:spPr>
          <a:xfrm>
            <a:off x="6510528" y="3931920"/>
            <a:ext cx="5029200" cy="2286000"/>
          </a:xfrm>
          <a:prstGeom prst="roundRect">
            <a:avLst>
              <a:gd name="adj" fmla="val 1600"/>
            </a:avLst>
          </a:prstGeom>
          <a:solidFill>
            <a:srgbClr val="060D1B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61" name="Image 1" descr="C:\Users\dp862\OneDrive\Desktop\InstitutePluse\InstitutePluse\screenshoot\invaition of event I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0528" y="3931920"/>
            <a:ext cx="5029200" cy="2286000"/>
          </a:xfrm>
          <a:prstGeom prst="rect">
            <a:avLst/>
          </a:prstGeom>
        </p:spPr>
      </p:pic>
      <p:sp>
        <p:nvSpPr>
          <p:cNvPr id="62" name="Shape 58"/>
          <p:cNvSpPr/>
          <p:nvPr/>
        </p:nvSpPr>
        <p:spPr>
          <a:xfrm>
            <a:off x="6172200" y="6309360"/>
            <a:ext cx="5705856" cy="201168"/>
          </a:xfrm>
          <a:prstGeom prst="roundRect">
            <a:avLst>
              <a:gd name="adj" fmla="val 18182"/>
            </a:avLst>
          </a:prstGeom>
          <a:solidFill>
            <a:srgbClr val="1E293B"/>
          </a:solidFill>
          <a:ln w="381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3" name="Shape 59"/>
          <p:cNvSpPr/>
          <p:nvPr/>
        </p:nvSpPr>
        <p:spPr>
          <a:xfrm>
            <a:off x="8659368" y="6355080"/>
            <a:ext cx="731520" cy="109728"/>
          </a:xfrm>
          <a:prstGeom prst="roundRect">
            <a:avLst>
              <a:gd name="adj" fmla="val 25000"/>
            </a:avLst>
          </a:prstGeom>
          <a:solidFill>
            <a:srgbClr val="475569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4" name="Shape 60"/>
          <p:cNvSpPr/>
          <p:nvPr/>
        </p:nvSpPr>
        <p:spPr>
          <a:xfrm>
            <a:off x="11430000" y="6446520"/>
            <a:ext cx="548640" cy="256032"/>
          </a:xfrm>
          <a:prstGeom prst="roundRect">
            <a:avLst>
              <a:gd name="adj" fmla="val 21429"/>
            </a:avLst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5" name="Text 61"/>
          <p:cNvSpPr/>
          <p:nvPr/>
        </p:nvSpPr>
        <p:spPr>
          <a:xfrm>
            <a:off x="11430000" y="6455664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9/12</a:t>
            </a:r>
            <a:endParaRPr lang="en-US" sz="900" dirty="0"/>
          </a:p>
        </p:txBody>
      </p:sp>
      <p:sp>
        <p:nvSpPr>
          <p:cNvPr id="66" name="Text 62"/>
          <p:cNvSpPr/>
          <p:nvPr/>
        </p:nvSpPr>
        <p:spPr>
          <a:xfrm>
            <a:off x="320040" y="6473952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InstitutePulse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6B6D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36576"/>
            <a:ext cx="12191695" cy="73152"/>
          </a:xfrm>
          <a:prstGeom prst="rect">
            <a:avLst/>
          </a:prstGeom>
          <a:solidFill>
            <a:srgbClr val="06B6D4">
              <a:alpha val="25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06B6D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0" y="6748272"/>
            <a:ext cx="12191695" cy="73152"/>
          </a:xfrm>
          <a:prstGeom prst="rect">
            <a:avLst/>
          </a:prstGeom>
          <a:solidFill>
            <a:srgbClr val="06B6D4">
              <a:alpha val="20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228600" y="228600"/>
            <a:ext cx="457200" cy="18288"/>
          </a:xfrm>
          <a:prstGeom prst="rect">
            <a:avLst/>
          </a:prstGeom>
          <a:solidFill>
            <a:srgbClr val="06B6D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228600" y="228600"/>
            <a:ext cx="18288" cy="457200"/>
          </a:xfrm>
          <a:prstGeom prst="rect">
            <a:avLst/>
          </a:prstGeom>
          <a:solidFill>
            <a:srgbClr val="06B6D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11505895" y="6519672"/>
            <a:ext cx="457200" cy="18288"/>
          </a:xfrm>
          <a:prstGeom prst="rect">
            <a:avLst/>
          </a:prstGeom>
          <a:solidFill>
            <a:srgbClr val="06B6D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11944807" y="6062472"/>
            <a:ext cx="18288" cy="475488"/>
          </a:xfrm>
          <a:prstGeom prst="rect">
            <a:avLst/>
          </a:prstGeom>
          <a:solidFill>
            <a:srgbClr val="06B6D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320040" y="2743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490"/>
          </a:solidFill>
          <a:ln w="762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320040" y="274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914400" y="365760"/>
            <a:ext cx="777240" cy="274320"/>
          </a:xfrm>
          <a:prstGeom prst="roundRect">
            <a:avLst>
              <a:gd name="adj" fmla="val 20000"/>
            </a:avLst>
          </a:prstGeom>
          <a:solidFill>
            <a:srgbClr val="020617"/>
          </a:solidFill>
          <a:ln w="762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987552" y="374904"/>
            <a:ext cx="6309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914400" y="77724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Canteen Owner Dashboard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914400" y="1280160"/>
            <a:ext cx="3657600" cy="27432"/>
          </a:xfrm>
          <a:prstGeom prst="rect">
            <a:avLst/>
          </a:prstGeom>
          <a:solidFill>
            <a:srgbClr val="06B6D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Shape 14"/>
          <p:cNvSpPr/>
          <p:nvPr/>
        </p:nvSpPr>
        <p:spPr>
          <a:xfrm>
            <a:off x="914400" y="1307592"/>
            <a:ext cx="1828800" cy="18288"/>
          </a:xfrm>
          <a:prstGeom prst="rect">
            <a:avLst/>
          </a:prstGeom>
          <a:solidFill>
            <a:srgbClr val="06B6D4">
              <a:alpha val="40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914400" y="14173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order management &amp; menu control panel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20040" y="1874520"/>
            <a:ext cx="5303520" cy="438912"/>
          </a:xfrm>
          <a:prstGeom prst="roundRect">
            <a:avLst>
              <a:gd name="adj" fmla="val 12500"/>
            </a:avLst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Shape 17"/>
          <p:cNvSpPr/>
          <p:nvPr/>
        </p:nvSpPr>
        <p:spPr>
          <a:xfrm>
            <a:off x="320040" y="1874520"/>
            <a:ext cx="36576" cy="438912"/>
          </a:xfrm>
          <a:prstGeom prst="rect">
            <a:avLst/>
          </a:prstGeom>
          <a:solidFill>
            <a:srgbClr val="06B6D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429768" y="1929384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0E74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29768" y="1911096"/>
            <a:ext cx="329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50392" y="1929384"/>
            <a:ext cx="4617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order queue with status management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20040" y="2404872"/>
            <a:ext cx="5303520" cy="438912"/>
          </a:xfrm>
          <a:prstGeom prst="roundRect">
            <a:avLst>
              <a:gd name="adj" fmla="val 12500"/>
            </a:avLst>
          </a:prstGeom>
          <a:solidFill>
            <a:srgbClr val="11182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Shape 22"/>
          <p:cNvSpPr/>
          <p:nvPr/>
        </p:nvSpPr>
        <p:spPr>
          <a:xfrm>
            <a:off x="320040" y="2404872"/>
            <a:ext cx="36576" cy="438912"/>
          </a:xfrm>
          <a:prstGeom prst="rect">
            <a:avLst/>
          </a:prstGeom>
          <a:solidFill>
            <a:srgbClr val="06B6D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429768" y="2459736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0E74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429768" y="2441448"/>
            <a:ext cx="329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📷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50392" y="2459736"/>
            <a:ext cx="4617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code scanner for order verification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20040" y="2935224"/>
            <a:ext cx="5303520" cy="438912"/>
          </a:xfrm>
          <a:prstGeom prst="roundRect">
            <a:avLst>
              <a:gd name="adj" fmla="val 12500"/>
            </a:avLst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Shape 27"/>
          <p:cNvSpPr/>
          <p:nvPr/>
        </p:nvSpPr>
        <p:spPr>
          <a:xfrm>
            <a:off x="320040" y="2935224"/>
            <a:ext cx="36576" cy="438912"/>
          </a:xfrm>
          <a:prstGeom prst="rect">
            <a:avLst/>
          </a:prstGeom>
          <a:solidFill>
            <a:srgbClr val="06B6D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Shape 28"/>
          <p:cNvSpPr/>
          <p:nvPr/>
        </p:nvSpPr>
        <p:spPr>
          <a:xfrm>
            <a:off x="429768" y="2990088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0E74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Text 29"/>
          <p:cNvSpPr/>
          <p:nvPr/>
        </p:nvSpPr>
        <p:spPr>
          <a:xfrm>
            <a:off x="429768" y="2971800"/>
            <a:ext cx="329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850392" y="2990088"/>
            <a:ext cx="4617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item CRUD: add, edit, price, carbon label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080760" y="1874520"/>
            <a:ext cx="5303520" cy="438912"/>
          </a:xfrm>
          <a:prstGeom prst="roundRect">
            <a:avLst>
              <a:gd name="adj" fmla="val 12500"/>
            </a:avLst>
          </a:prstGeom>
          <a:solidFill>
            <a:srgbClr val="11182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Shape 32"/>
          <p:cNvSpPr/>
          <p:nvPr/>
        </p:nvSpPr>
        <p:spPr>
          <a:xfrm>
            <a:off x="6080760" y="1874520"/>
            <a:ext cx="36576" cy="438912"/>
          </a:xfrm>
          <a:prstGeom prst="rect">
            <a:avLst/>
          </a:prstGeom>
          <a:solidFill>
            <a:srgbClr val="06B6D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Shape 33"/>
          <p:cNvSpPr/>
          <p:nvPr/>
        </p:nvSpPr>
        <p:spPr>
          <a:xfrm>
            <a:off x="6190488" y="1929384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0E74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/>
          <p:nvPr/>
        </p:nvSpPr>
        <p:spPr>
          <a:xfrm>
            <a:off x="6190488" y="1911096"/>
            <a:ext cx="329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611112" y="1929384"/>
            <a:ext cx="4617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sales analytics &amp; revenue tracking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080760" y="2404872"/>
            <a:ext cx="5303520" cy="438912"/>
          </a:xfrm>
          <a:prstGeom prst="roundRect">
            <a:avLst>
              <a:gd name="adj" fmla="val 12500"/>
            </a:avLst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9" name="Shape 37"/>
          <p:cNvSpPr/>
          <p:nvPr/>
        </p:nvSpPr>
        <p:spPr>
          <a:xfrm>
            <a:off x="6080760" y="2404872"/>
            <a:ext cx="36576" cy="438912"/>
          </a:xfrm>
          <a:prstGeom prst="rect">
            <a:avLst/>
          </a:prstGeom>
          <a:solidFill>
            <a:srgbClr val="06B6D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Shape 38"/>
          <p:cNvSpPr/>
          <p:nvPr/>
        </p:nvSpPr>
        <p:spPr>
          <a:xfrm>
            <a:off x="6190488" y="2459736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0E74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6190488" y="2441448"/>
            <a:ext cx="329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611112" y="2459736"/>
            <a:ext cx="4617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&amp; availability toggle per item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6080760" y="2935224"/>
            <a:ext cx="5303520" cy="438912"/>
          </a:xfrm>
          <a:prstGeom prst="roundRect">
            <a:avLst>
              <a:gd name="adj" fmla="val 12500"/>
            </a:avLst>
          </a:prstGeom>
          <a:solidFill>
            <a:srgbClr val="11182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4" name="Shape 42"/>
          <p:cNvSpPr/>
          <p:nvPr/>
        </p:nvSpPr>
        <p:spPr>
          <a:xfrm>
            <a:off x="6080760" y="2935224"/>
            <a:ext cx="36576" cy="438912"/>
          </a:xfrm>
          <a:prstGeom prst="rect">
            <a:avLst/>
          </a:prstGeom>
          <a:solidFill>
            <a:srgbClr val="06B6D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5" name="Shape 43"/>
          <p:cNvSpPr/>
          <p:nvPr/>
        </p:nvSpPr>
        <p:spPr>
          <a:xfrm>
            <a:off x="6190488" y="2990088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0E74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6190488" y="2971800"/>
            <a:ext cx="329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🌿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6611112" y="2990088"/>
            <a:ext cx="4617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Carbon impact summary across all orders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3200400" y="3575304"/>
            <a:ext cx="5888736" cy="3107297"/>
          </a:xfrm>
          <a:prstGeom prst="roundRect">
            <a:avLst>
              <a:gd name="adj" fmla="val 5297"/>
            </a:avLst>
          </a:prstGeom>
          <a:solidFill>
            <a:srgbClr val="0000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9" name="Shape 47"/>
          <p:cNvSpPr/>
          <p:nvPr/>
        </p:nvSpPr>
        <p:spPr>
          <a:xfrm>
            <a:off x="3145536" y="3520440"/>
            <a:ext cx="5888736" cy="2924417"/>
          </a:xfrm>
          <a:prstGeom prst="roundRect">
            <a:avLst>
              <a:gd name="adj" fmla="val 3752"/>
            </a:avLst>
          </a:prstGeom>
          <a:solidFill>
            <a:srgbClr val="111827"/>
          </a:solidFill>
          <a:ln w="762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0" name="Shape 48"/>
          <p:cNvSpPr/>
          <p:nvPr/>
        </p:nvSpPr>
        <p:spPr>
          <a:xfrm>
            <a:off x="6035040" y="3611880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475569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1" name="Text 49"/>
          <p:cNvSpPr/>
          <p:nvPr/>
        </p:nvSpPr>
        <p:spPr>
          <a:xfrm>
            <a:off x="3602736" y="3575304"/>
            <a:ext cx="4974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dasjboard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255264" y="3794760"/>
            <a:ext cx="5669280" cy="2576945"/>
          </a:xfrm>
          <a:prstGeom prst="roundRect">
            <a:avLst>
              <a:gd name="adj" fmla="val 1419"/>
            </a:avLst>
          </a:prstGeom>
          <a:solidFill>
            <a:srgbClr val="060D1B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53" name="Image 0" descr="C:\Users\dp862\OneDrive\Desktop\InstitutePluse\InstitutePluse\screenshoot\owner dasjboard 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5264" y="3794760"/>
            <a:ext cx="5669280" cy="2576945"/>
          </a:xfrm>
          <a:prstGeom prst="rect">
            <a:avLst/>
          </a:prstGeom>
        </p:spPr>
      </p:pic>
      <p:sp>
        <p:nvSpPr>
          <p:cNvPr id="54" name="Shape 51"/>
          <p:cNvSpPr/>
          <p:nvPr/>
        </p:nvSpPr>
        <p:spPr>
          <a:xfrm>
            <a:off x="2916936" y="6463145"/>
            <a:ext cx="6345936" cy="201168"/>
          </a:xfrm>
          <a:prstGeom prst="roundRect">
            <a:avLst>
              <a:gd name="adj" fmla="val 18182"/>
            </a:avLst>
          </a:prstGeom>
          <a:solidFill>
            <a:srgbClr val="1E293B"/>
          </a:solidFill>
          <a:ln w="381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5" name="Shape 52"/>
          <p:cNvSpPr/>
          <p:nvPr/>
        </p:nvSpPr>
        <p:spPr>
          <a:xfrm>
            <a:off x="5724144" y="6508865"/>
            <a:ext cx="731520" cy="109728"/>
          </a:xfrm>
          <a:prstGeom prst="roundRect">
            <a:avLst>
              <a:gd name="adj" fmla="val 25000"/>
            </a:avLst>
          </a:prstGeom>
          <a:solidFill>
            <a:srgbClr val="475569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6" name="Shape 53"/>
          <p:cNvSpPr/>
          <p:nvPr/>
        </p:nvSpPr>
        <p:spPr>
          <a:xfrm>
            <a:off x="11430000" y="6446520"/>
            <a:ext cx="548640" cy="256032"/>
          </a:xfrm>
          <a:prstGeom prst="roundRect">
            <a:avLst>
              <a:gd name="adj" fmla="val 21429"/>
            </a:avLst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7" name="Text 54"/>
          <p:cNvSpPr/>
          <p:nvPr/>
        </p:nvSpPr>
        <p:spPr>
          <a:xfrm>
            <a:off x="11430000" y="6455664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10/12</a:t>
            </a:r>
            <a:endParaRPr lang="en-US" sz="900" dirty="0"/>
          </a:p>
        </p:txBody>
      </p:sp>
      <p:sp>
        <p:nvSpPr>
          <p:cNvPr id="58" name="Text 55"/>
          <p:cNvSpPr/>
          <p:nvPr/>
        </p:nvSpPr>
        <p:spPr>
          <a:xfrm>
            <a:off x="320040" y="6473952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InstitutePulse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8B5CF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36576"/>
            <a:ext cx="12191695" cy="73152"/>
          </a:xfrm>
          <a:prstGeom prst="rect">
            <a:avLst/>
          </a:prstGeom>
          <a:solidFill>
            <a:srgbClr val="8B5CF6">
              <a:alpha val="25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8B5CF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0" y="6748272"/>
            <a:ext cx="12191695" cy="73152"/>
          </a:xfrm>
          <a:prstGeom prst="rect">
            <a:avLst/>
          </a:prstGeom>
          <a:solidFill>
            <a:srgbClr val="8B5CF6">
              <a:alpha val="20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228600" y="228600"/>
            <a:ext cx="457200" cy="18288"/>
          </a:xfrm>
          <a:prstGeom prst="rect">
            <a:avLst/>
          </a:prstGeom>
          <a:solidFill>
            <a:srgbClr val="8B5CF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228600" y="228600"/>
            <a:ext cx="18288" cy="457200"/>
          </a:xfrm>
          <a:prstGeom prst="rect">
            <a:avLst/>
          </a:prstGeom>
          <a:solidFill>
            <a:srgbClr val="8B5CF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11505895" y="6519672"/>
            <a:ext cx="457200" cy="18288"/>
          </a:xfrm>
          <a:prstGeom prst="rect">
            <a:avLst/>
          </a:prstGeom>
          <a:solidFill>
            <a:srgbClr val="8B5CF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11944807" y="6062472"/>
            <a:ext cx="18288" cy="475488"/>
          </a:xfrm>
          <a:prstGeom prst="rect">
            <a:avLst/>
          </a:prstGeom>
          <a:solidFill>
            <a:srgbClr val="8B5CF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320040" y="2743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5B21B6"/>
          </a:solidFill>
          <a:ln w="762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320040" y="274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914400" y="365760"/>
            <a:ext cx="777240" cy="274320"/>
          </a:xfrm>
          <a:prstGeom prst="roundRect">
            <a:avLst>
              <a:gd name="adj" fmla="val 20000"/>
            </a:avLst>
          </a:prstGeom>
          <a:solidFill>
            <a:srgbClr val="020617"/>
          </a:solidFill>
          <a:ln w="762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987552" y="374904"/>
            <a:ext cx="6309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914400" y="77724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Dashboard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914400" y="1280160"/>
            <a:ext cx="3657600" cy="27432"/>
          </a:xfrm>
          <a:prstGeom prst="rect">
            <a:avLst/>
          </a:prstGeom>
          <a:solidFill>
            <a:srgbClr val="8B5CF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Shape 14"/>
          <p:cNvSpPr/>
          <p:nvPr/>
        </p:nvSpPr>
        <p:spPr>
          <a:xfrm>
            <a:off x="914400" y="1307592"/>
            <a:ext cx="1828800" cy="18288"/>
          </a:xfrm>
          <a:prstGeom prst="rect">
            <a:avLst/>
          </a:prstGeom>
          <a:solidFill>
            <a:srgbClr val="8B5CF6">
              <a:alpha val="40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914400" y="14173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Campus-wide control center with real-time metrics &amp; CMS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20040" y="1874520"/>
            <a:ext cx="5303520" cy="438912"/>
          </a:xfrm>
          <a:prstGeom prst="roundRect">
            <a:avLst>
              <a:gd name="adj" fmla="val 12500"/>
            </a:avLst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Shape 17"/>
          <p:cNvSpPr/>
          <p:nvPr/>
        </p:nvSpPr>
        <p:spPr>
          <a:xfrm>
            <a:off x="320040" y="1874520"/>
            <a:ext cx="36576" cy="438912"/>
          </a:xfrm>
          <a:prstGeom prst="rect">
            <a:avLst/>
          </a:prstGeom>
          <a:solidFill>
            <a:srgbClr val="8B5CF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429768" y="1929384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5B21B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29768" y="1911096"/>
            <a:ext cx="329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50392" y="1929384"/>
            <a:ext cx="4617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campus sustainability metrics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20040" y="2404872"/>
            <a:ext cx="5303520" cy="438912"/>
          </a:xfrm>
          <a:prstGeom prst="roundRect">
            <a:avLst>
              <a:gd name="adj" fmla="val 12500"/>
            </a:avLst>
          </a:prstGeom>
          <a:solidFill>
            <a:srgbClr val="11182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Shape 22"/>
          <p:cNvSpPr/>
          <p:nvPr/>
        </p:nvSpPr>
        <p:spPr>
          <a:xfrm>
            <a:off x="320040" y="2404872"/>
            <a:ext cx="36576" cy="438912"/>
          </a:xfrm>
          <a:prstGeom prst="rect">
            <a:avLst/>
          </a:prstGeom>
          <a:solidFill>
            <a:srgbClr val="8B5CF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429768" y="2459736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5B21B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429768" y="2441448"/>
            <a:ext cx="329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🖊️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50392" y="2459736"/>
            <a:ext cx="4617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page CMS editor — live updates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20040" y="2935224"/>
            <a:ext cx="5303520" cy="438912"/>
          </a:xfrm>
          <a:prstGeom prst="roundRect">
            <a:avLst>
              <a:gd name="adj" fmla="val 12500"/>
            </a:avLst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Shape 27"/>
          <p:cNvSpPr/>
          <p:nvPr/>
        </p:nvSpPr>
        <p:spPr>
          <a:xfrm>
            <a:off x="320040" y="2935224"/>
            <a:ext cx="36576" cy="438912"/>
          </a:xfrm>
          <a:prstGeom prst="rect">
            <a:avLst/>
          </a:prstGeom>
          <a:solidFill>
            <a:srgbClr val="8B5CF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Shape 28"/>
          <p:cNvSpPr/>
          <p:nvPr/>
        </p:nvSpPr>
        <p:spPr>
          <a:xfrm>
            <a:off x="429768" y="2990088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5B21B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Text 29"/>
          <p:cNvSpPr/>
          <p:nvPr/>
        </p:nvSpPr>
        <p:spPr>
          <a:xfrm>
            <a:off x="429768" y="2971800"/>
            <a:ext cx="329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👥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850392" y="2990088"/>
            <a:ext cx="4617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&amp; faculty user management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080760" y="1874520"/>
            <a:ext cx="5303520" cy="438912"/>
          </a:xfrm>
          <a:prstGeom prst="roundRect">
            <a:avLst>
              <a:gd name="adj" fmla="val 12500"/>
            </a:avLst>
          </a:prstGeom>
          <a:solidFill>
            <a:srgbClr val="11182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Shape 32"/>
          <p:cNvSpPr/>
          <p:nvPr/>
        </p:nvSpPr>
        <p:spPr>
          <a:xfrm>
            <a:off x="6080760" y="1874520"/>
            <a:ext cx="36576" cy="438912"/>
          </a:xfrm>
          <a:prstGeom prst="rect">
            <a:avLst/>
          </a:prstGeom>
          <a:solidFill>
            <a:srgbClr val="8B5CF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Shape 33"/>
          <p:cNvSpPr/>
          <p:nvPr/>
        </p:nvSpPr>
        <p:spPr>
          <a:xfrm>
            <a:off x="6190488" y="1929384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5B21B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/>
          <p:nvPr/>
        </p:nvSpPr>
        <p:spPr>
          <a:xfrm>
            <a:off x="6190488" y="1911096"/>
            <a:ext cx="329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🛡️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611112" y="1929384"/>
            <a:ext cx="4617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Anti-cheat quarantine panel — ban cheaters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080760" y="2404872"/>
            <a:ext cx="5303520" cy="438912"/>
          </a:xfrm>
          <a:prstGeom prst="roundRect">
            <a:avLst>
              <a:gd name="adj" fmla="val 12500"/>
            </a:avLst>
          </a:prstGeom>
          <a:solidFill>
            <a:srgbClr val="0F172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9" name="Shape 37"/>
          <p:cNvSpPr/>
          <p:nvPr/>
        </p:nvSpPr>
        <p:spPr>
          <a:xfrm>
            <a:off x="6080760" y="2404872"/>
            <a:ext cx="36576" cy="438912"/>
          </a:xfrm>
          <a:prstGeom prst="rect">
            <a:avLst/>
          </a:prstGeom>
          <a:solidFill>
            <a:srgbClr val="8B5CF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Shape 38"/>
          <p:cNvSpPr/>
          <p:nvPr/>
        </p:nvSpPr>
        <p:spPr>
          <a:xfrm>
            <a:off x="6190488" y="2459736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5B21B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6190488" y="2441448"/>
            <a:ext cx="329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🌳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611112" y="2459736"/>
            <a:ext cx="4617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Cover: trees, grass, absorption tracking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6080760" y="2935224"/>
            <a:ext cx="5303520" cy="438912"/>
          </a:xfrm>
          <a:prstGeom prst="roundRect">
            <a:avLst>
              <a:gd name="adj" fmla="val 12500"/>
            </a:avLst>
          </a:prstGeom>
          <a:solidFill>
            <a:srgbClr val="11182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4" name="Shape 42"/>
          <p:cNvSpPr/>
          <p:nvPr/>
        </p:nvSpPr>
        <p:spPr>
          <a:xfrm>
            <a:off x="6080760" y="2935224"/>
            <a:ext cx="36576" cy="438912"/>
          </a:xfrm>
          <a:prstGeom prst="rect">
            <a:avLst/>
          </a:prstGeom>
          <a:solidFill>
            <a:srgbClr val="8B5CF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5" name="Shape 43"/>
          <p:cNvSpPr/>
          <p:nvPr/>
        </p:nvSpPr>
        <p:spPr>
          <a:xfrm>
            <a:off x="6190488" y="2990088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5B21B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6190488" y="2971800"/>
            <a:ext cx="329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6611112" y="2990088"/>
            <a:ext cx="4617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Broadcast system: urgent/warning/info alerts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3200400" y="3575304"/>
            <a:ext cx="5888736" cy="3107297"/>
          </a:xfrm>
          <a:prstGeom prst="roundRect">
            <a:avLst>
              <a:gd name="adj" fmla="val 5297"/>
            </a:avLst>
          </a:prstGeom>
          <a:solidFill>
            <a:srgbClr val="0000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9" name="Shape 47"/>
          <p:cNvSpPr/>
          <p:nvPr/>
        </p:nvSpPr>
        <p:spPr>
          <a:xfrm>
            <a:off x="3145536" y="3520440"/>
            <a:ext cx="5888736" cy="2924417"/>
          </a:xfrm>
          <a:prstGeom prst="roundRect">
            <a:avLst>
              <a:gd name="adj" fmla="val 3752"/>
            </a:avLst>
          </a:prstGeom>
          <a:solidFill>
            <a:srgbClr val="111827"/>
          </a:solidFill>
          <a:ln w="762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0" name="Shape 48"/>
          <p:cNvSpPr/>
          <p:nvPr/>
        </p:nvSpPr>
        <p:spPr>
          <a:xfrm>
            <a:off x="6035040" y="3611880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475569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1" name="Text 49"/>
          <p:cNvSpPr/>
          <p:nvPr/>
        </p:nvSpPr>
        <p:spPr>
          <a:xfrm>
            <a:off x="3602736" y="3575304"/>
            <a:ext cx="4974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dashboard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255264" y="3794760"/>
            <a:ext cx="5669280" cy="2576945"/>
          </a:xfrm>
          <a:prstGeom prst="roundRect">
            <a:avLst>
              <a:gd name="adj" fmla="val 1419"/>
            </a:avLst>
          </a:prstGeom>
          <a:solidFill>
            <a:srgbClr val="060D1B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53" name="Image 0" descr="C:\Users\dp862\OneDrive\Desktop\InstitutePluse\InstitutePluse\screenshoot\Admin dashboard 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5264" y="3794760"/>
            <a:ext cx="5669280" cy="2576945"/>
          </a:xfrm>
          <a:prstGeom prst="rect">
            <a:avLst/>
          </a:prstGeom>
        </p:spPr>
      </p:pic>
      <p:sp>
        <p:nvSpPr>
          <p:cNvPr id="54" name="Shape 51"/>
          <p:cNvSpPr/>
          <p:nvPr/>
        </p:nvSpPr>
        <p:spPr>
          <a:xfrm>
            <a:off x="2916936" y="6463145"/>
            <a:ext cx="6345936" cy="201168"/>
          </a:xfrm>
          <a:prstGeom prst="roundRect">
            <a:avLst>
              <a:gd name="adj" fmla="val 18182"/>
            </a:avLst>
          </a:prstGeom>
          <a:solidFill>
            <a:srgbClr val="1E293B"/>
          </a:solidFill>
          <a:ln w="381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5" name="Shape 52"/>
          <p:cNvSpPr/>
          <p:nvPr/>
        </p:nvSpPr>
        <p:spPr>
          <a:xfrm>
            <a:off x="5724144" y="6508865"/>
            <a:ext cx="731520" cy="109728"/>
          </a:xfrm>
          <a:prstGeom prst="roundRect">
            <a:avLst>
              <a:gd name="adj" fmla="val 25000"/>
            </a:avLst>
          </a:prstGeom>
          <a:solidFill>
            <a:srgbClr val="475569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6" name="Shape 53"/>
          <p:cNvSpPr/>
          <p:nvPr/>
        </p:nvSpPr>
        <p:spPr>
          <a:xfrm>
            <a:off x="11430000" y="6446520"/>
            <a:ext cx="548640" cy="256032"/>
          </a:xfrm>
          <a:prstGeom prst="roundRect">
            <a:avLst>
              <a:gd name="adj" fmla="val 21429"/>
            </a:avLst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7" name="Text 54"/>
          <p:cNvSpPr/>
          <p:nvPr/>
        </p:nvSpPr>
        <p:spPr>
          <a:xfrm>
            <a:off x="11430000" y="6455664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11/12</a:t>
            </a:r>
            <a:endParaRPr lang="en-US" sz="900" dirty="0"/>
          </a:p>
        </p:txBody>
      </p:sp>
      <p:sp>
        <p:nvSpPr>
          <p:cNvPr id="58" name="Text 55"/>
          <p:cNvSpPr/>
          <p:nvPr/>
        </p:nvSpPr>
        <p:spPr>
          <a:xfrm>
            <a:off x="320040" y="6473952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InstitutePulse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22C55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36576"/>
            <a:ext cx="12191695" cy="73152"/>
          </a:xfrm>
          <a:prstGeom prst="rect">
            <a:avLst/>
          </a:prstGeom>
          <a:solidFill>
            <a:srgbClr val="22C55E">
              <a:alpha val="25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B82F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0" y="6748272"/>
            <a:ext cx="12191695" cy="73152"/>
          </a:xfrm>
          <a:prstGeom prst="rect">
            <a:avLst/>
          </a:prstGeom>
          <a:solidFill>
            <a:srgbClr val="3B82F6">
              <a:alpha val="20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228600" y="228600"/>
            <a:ext cx="457200" cy="18288"/>
          </a:xfrm>
          <a:prstGeom prst="rect">
            <a:avLst/>
          </a:prstGeom>
          <a:solidFill>
            <a:srgbClr val="22C55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228600" y="228600"/>
            <a:ext cx="18288" cy="457200"/>
          </a:xfrm>
          <a:prstGeom prst="rect">
            <a:avLst/>
          </a:prstGeom>
          <a:solidFill>
            <a:srgbClr val="22C55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11505895" y="6519672"/>
            <a:ext cx="457200" cy="18288"/>
          </a:xfrm>
          <a:prstGeom prst="rect">
            <a:avLst/>
          </a:prstGeom>
          <a:solidFill>
            <a:srgbClr val="22C55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11944807" y="6062472"/>
            <a:ext cx="18288" cy="475488"/>
          </a:xfrm>
          <a:prstGeom prst="rect">
            <a:avLst/>
          </a:prstGeom>
          <a:solidFill>
            <a:srgbClr val="22C55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0" y="0"/>
            <a:ext cx="27432" cy="6858000"/>
          </a:xfrm>
          <a:prstGeom prst="rect">
            <a:avLst/>
          </a:prstGeom>
          <a:solidFill>
            <a:srgbClr val="22C55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12164263" y="0"/>
            <a:ext cx="27432" cy="6858000"/>
          </a:xfrm>
          <a:prstGeom prst="rect">
            <a:avLst/>
          </a:prstGeom>
          <a:solidFill>
            <a:srgbClr val="3B82F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5029200" y="365760"/>
            <a:ext cx="2103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🎉</a:t>
            </a:r>
            <a:endParaRPr lang="en-US" sz="4800" dirty="0"/>
          </a:p>
        </p:txBody>
      </p:sp>
      <p:sp>
        <p:nvSpPr>
          <p:cNvPr id="13" name="Text 11"/>
          <p:cNvSpPr/>
          <p:nvPr/>
        </p:nvSpPr>
        <p:spPr>
          <a:xfrm>
            <a:off x="914400" y="1280160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You!</a:t>
            </a:r>
            <a:endParaRPr lang="en-US" sz="5600" dirty="0"/>
          </a:p>
        </p:txBody>
      </p:sp>
      <p:sp>
        <p:nvSpPr>
          <p:cNvPr id="14" name="Shape 12"/>
          <p:cNvSpPr/>
          <p:nvPr/>
        </p:nvSpPr>
        <p:spPr>
          <a:xfrm>
            <a:off x="1828800" y="2377440"/>
            <a:ext cx="8534095" cy="548640"/>
          </a:xfrm>
          <a:prstGeom prst="roundRect">
            <a:avLst>
              <a:gd name="adj" fmla="val 16667"/>
            </a:avLst>
          </a:prstGeom>
          <a:solidFill>
            <a:srgbClr val="0F172A"/>
          </a:solidFill>
          <a:ln w="635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1828800" y="2377440"/>
            <a:ext cx="8534095" cy="27432"/>
          </a:xfrm>
          <a:prstGeom prst="rect">
            <a:avLst/>
          </a:prstGeom>
          <a:solidFill>
            <a:srgbClr val="22C55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2011680" y="2404872"/>
            <a:ext cx="813816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InstitutePulse — Building Greener Campuses, One Log at a Time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4114800" y="3154680"/>
            <a:ext cx="1664080" cy="13716"/>
          </a:xfrm>
          <a:prstGeom prst="rect">
            <a:avLst/>
          </a:prstGeom>
          <a:solidFill>
            <a:srgbClr val="3B82F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Shape 16"/>
          <p:cNvSpPr/>
          <p:nvPr/>
        </p:nvSpPr>
        <p:spPr>
          <a:xfrm>
            <a:off x="6011868" y="3132376"/>
            <a:ext cx="82296" cy="82296"/>
          </a:xfrm>
          <a:prstGeom prst="roundRect">
            <a:avLst>
              <a:gd name="adj" fmla="val 22222"/>
            </a:avLst>
          </a:prstGeom>
          <a:solidFill>
            <a:srgbClr val="3B82F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Shape 17"/>
          <p:cNvSpPr/>
          <p:nvPr/>
        </p:nvSpPr>
        <p:spPr>
          <a:xfrm>
            <a:off x="6333573" y="3154680"/>
            <a:ext cx="1664080" cy="13716"/>
          </a:xfrm>
          <a:prstGeom prst="rect">
            <a:avLst/>
          </a:prstGeom>
          <a:solidFill>
            <a:srgbClr val="3B82F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914400" y="3337560"/>
            <a:ext cx="103327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1371600" y="3657600"/>
            <a:ext cx="1645920" cy="347472"/>
          </a:xfrm>
          <a:prstGeom prst="roundRect">
            <a:avLst>
              <a:gd name="adj" fmla="val 15789"/>
            </a:avLst>
          </a:prstGeom>
          <a:solidFill>
            <a:srgbClr val="0F172A"/>
          </a:solidFill>
          <a:ln w="635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Shape 20"/>
          <p:cNvSpPr/>
          <p:nvPr/>
        </p:nvSpPr>
        <p:spPr>
          <a:xfrm>
            <a:off x="1371600" y="3657600"/>
            <a:ext cx="36576" cy="347472"/>
          </a:xfrm>
          <a:prstGeom prst="rect">
            <a:avLst/>
          </a:prstGeom>
          <a:solidFill>
            <a:srgbClr val="06B6D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1463040" y="3675888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Vite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383280" y="3657600"/>
            <a:ext cx="1645920" cy="347472"/>
          </a:xfrm>
          <a:prstGeom prst="roundRect">
            <a:avLst>
              <a:gd name="adj" fmla="val 15789"/>
            </a:avLst>
          </a:prstGeom>
          <a:solidFill>
            <a:srgbClr val="0F172A"/>
          </a:solidFill>
          <a:ln w="635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3383280" y="3657600"/>
            <a:ext cx="36576" cy="347472"/>
          </a:xfrm>
          <a:prstGeom prst="rect">
            <a:avLst/>
          </a:prstGeom>
          <a:solidFill>
            <a:srgbClr val="3B82F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3474720" y="3675888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v4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394960" y="3657600"/>
            <a:ext cx="1645920" cy="347472"/>
          </a:xfrm>
          <a:prstGeom prst="roundRect">
            <a:avLst>
              <a:gd name="adj" fmla="val 15789"/>
            </a:avLst>
          </a:prstGeom>
          <a:solidFill>
            <a:srgbClr val="0F172A"/>
          </a:solidFill>
          <a:ln w="635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Shape 26"/>
          <p:cNvSpPr/>
          <p:nvPr/>
        </p:nvSpPr>
        <p:spPr>
          <a:xfrm>
            <a:off x="5394960" y="3657600"/>
            <a:ext cx="36576" cy="347472"/>
          </a:xfrm>
          <a:prstGeom prst="rect">
            <a:avLst/>
          </a:prstGeom>
          <a:solidFill>
            <a:srgbClr val="22C55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Text 27"/>
          <p:cNvSpPr/>
          <p:nvPr/>
        </p:nvSpPr>
        <p:spPr>
          <a:xfrm>
            <a:off x="5486400" y="3675888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7406640" y="3657600"/>
            <a:ext cx="1645920" cy="347472"/>
          </a:xfrm>
          <a:prstGeom prst="roundRect">
            <a:avLst>
              <a:gd name="adj" fmla="val 15789"/>
            </a:avLst>
          </a:prstGeom>
          <a:solidFill>
            <a:srgbClr val="0F172A"/>
          </a:solidFill>
          <a:ln w="63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7406640" y="3657600"/>
            <a:ext cx="36576" cy="347472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7498080" y="3675888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Capacitor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9418320" y="3657600"/>
            <a:ext cx="1645920" cy="347472"/>
          </a:xfrm>
          <a:prstGeom prst="roundRect">
            <a:avLst>
              <a:gd name="adj" fmla="val 15789"/>
            </a:avLst>
          </a:prstGeom>
          <a:solidFill>
            <a:srgbClr val="0F172A"/>
          </a:solidFill>
          <a:ln w="635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Shape 32"/>
          <p:cNvSpPr/>
          <p:nvPr/>
        </p:nvSpPr>
        <p:spPr>
          <a:xfrm>
            <a:off x="9418320" y="3657600"/>
            <a:ext cx="36576" cy="347472"/>
          </a:xfrm>
          <a:prstGeom prst="rect">
            <a:avLst/>
          </a:prstGeom>
          <a:solidFill>
            <a:srgbClr val="8B5CF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Text 33"/>
          <p:cNvSpPr/>
          <p:nvPr/>
        </p:nvSpPr>
        <p:spPr>
          <a:xfrm>
            <a:off x="9509760" y="3675888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Framer Motion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914400" y="4160520"/>
            <a:ext cx="103327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UN SUSTAINABLE DEVELOPMENT GOALS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1645920" y="4526280"/>
            <a:ext cx="2011680" cy="548640"/>
          </a:xfrm>
          <a:prstGeom prst="roundRect">
            <a:avLst>
              <a:gd name="adj" fmla="val 13333"/>
            </a:avLst>
          </a:prstGeom>
          <a:solidFill>
            <a:srgbClr val="0F172A"/>
          </a:solidFill>
          <a:ln w="5080">
            <a:solidFill>
              <a:srgbClr val="F43F5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8" name="Shape 36"/>
          <p:cNvSpPr/>
          <p:nvPr/>
        </p:nvSpPr>
        <p:spPr>
          <a:xfrm>
            <a:off x="1645920" y="4526280"/>
            <a:ext cx="36576" cy="548640"/>
          </a:xfrm>
          <a:prstGeom prst="rect">
            <a:avLst/>
          </a:prstGeom>
          <a:solidFill>
            <a:srgbClr val="F43F5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9" name="Shape 37"/>
          <p:cNvSpPr/>
          <p:nvPr/>
        </p:nvSpPr>
        <p:spPr>
          <a:xfrm>
            <a:off x="1755648" y="461772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F43F5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Text 38"/>
          <p:cNvSpPr/>
          <p:nvPr/>
        </p:nvSpPr>
        <p:spPr>
          <a:xfrm>
            <a:off x="1755648" y="4617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2212848" y="455371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43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4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2212848" y="4773168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Education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023360" y="4526280"/>
            <a:ext cx="2011680" cy="548640"/>
          </a:xfrm>
          <a:prstGeom prst="roundRect">
            <a:avLst>
              <a:gd name="adj" fmla="val 13333"/>
            </a:avLst>
          </a:prstGeom>
          <a:solidFill>
            <a:srgbClr val="0F172A"/>
          </a:solidFill>
          <a:ln w="508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4" name="Shape 42"/>
          <p:cNvSpPr/>
          <p:nvPr/>
        </p:nvSpPr>
        <p:spPr>
          <a:xfrm>
            <a:off x="4023360" y="4526280"/>
            <a:ext cx="36576" cy="548640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5" name="Shape 43"/>
          <p:cNvSpPr/>
          <p:nvPr/>
        </p:nvSpPr>
        <p:spPr>
          <a:xfrm>
            <a:off x="4133088" y="461772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4133088" y="4617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4590288" y="455371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11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4590288" y="4773168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Sustainable Cities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6400800" y="4526280"/>
            <a:ext cx="2011680" cy="548640"/>
          </a:xfrm>
          <a:prstGeom prst="roundRect">
            <a:avLst>
              <a:gd name="adj" fmla="val 13333"/>
            </a:avLst>
          </a:prstGeom>
          <a:solidFill>
            <a:srgbClr val="0F172A"/>
          </a:solidFill>
          <a:ln w="508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0" name="Shape 48"/>
          <p:cNvSpPr/>
          <p:nvPr/>
        </p:nvSpPr>
        <p:spPr>
          <a:xfrm>
            <a:off x="6400800" y="4526280"/>
            <a:ext cx="36576" cy="548640"/>
          </a:xfrm>
          <a:prstGeom prst="rect">
            <a:avLst/>
          </a:prstGeom>
          <a:solidFill>
            <a:srgbClr val="14B8A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1" name="Shape 49"/>
          <p:cNvSpPr/>
          <p:nvPr/>
        </p:nvSpPr>
        <p:spPr>
          <a:xfrm>
            <a:off x="6510528" y="461772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B8A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2" name="Text 50"/>
          <p:cNvSpPr/>
          <p:nvPr/>
        </p:nvSpPr>
        <p:spPr>
          <a:xfrm>
            <a:off x="6510528" y="4617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600" dirty="0"/>
          </a:p>
        </p:txBody>
      </p:sp>
      <p:sp>
        <p:nvSpPr>
          <p:cNvPr id="53" name="Text 51"/>
          <p:cNvSpPr/>
          <p:nvPr/>
        </p:nvSpPr>
        <p:spPr>
          <a:xfrm>
            <a:off x="6967728" y="455371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12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6967728" y="4773168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Responsible Consumption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8778240" y="4526280"/>
            <a:ext cx="2011680" cy="548640"/>
          </a:xfrm>
          <a:prstGeom prst="roundRect">
            <a:avLst>
              <a:gd name="adj" fmla="val 13333"/>
            </a:avLst>
          </a:prstGeom>
          <a:solidFill>
            <a:srgbClr val="0F172A"/>
          </a:solidFill>
          <a:ln w="508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6" name="Shape 54"/>
          <p:cNvSpPr/>
          <p:nvPr/>
        </p:nvSpPr>
        <p:spPr>
          <a:xfrm>
            <a:off x="8778240" y="4526280"/>
            <a:ext cx="36576" cy="548640"/>
          </a:xfrm>
          <a:prstGeom prst="rect">
            <a:avLst/>
          </a:prstGeom>
          <a:solidFill>
            <a:srgbClr val="22C55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7" name="Shape 55"/>
          <p:cNvSpPr/>
          <p:nvPr/>
        </p:nvSpPr>
        <p:spPr>
          <a:xfrm>
            <a:off x="8887968" y="461772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22C55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8" name="Text 56"/>
          <p:cNvSpPr/>
          <p:nvPr/>
        </p:nvSpPr>
        <p:spPr>
          <a:xfrm>
            <a:off x="8887968" y="4617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600" dirty="0"/>
          </a:p>
        </p:txBody>
      </p:sp>
      <p:sp>
        <p:nvSpPr>
          <p:cNvPr id="59" name="Text 57"/>
          <p:cNvSpPr/>
          <p:nvPr/>
        </p:nvSpPr>
        <p:spPr>
          <a:xfrm>
            <a:off x="9345168" y="455371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13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9345168" y="4773168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 Action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2011680" y="5303520"/>
            <a:ext cx="8138160" cy="1371600"/>
          </a:xfrm>
          <a:prstGeom prst="roundRect">
            <a:avLst>
              <a:gd name="adj" fmla="val 6667"/>
            </a:avLst>
          </a:prstGeom>
          <a:solidFill>
            <a:srgbClr val="0F172A"/>
          </a:solidFill>
          <a:ln w="508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2" name="Shape 60"/>
          <p:cNvSpPr/>
          <p:nvPr/>
        </p:nvSpPr>
        <p:spPr>
          <a:xfrm>
            <a:off x="2011680" y="5303520"/>
            <a:ext cx="8138160" cy="347472"/>
          </a:xfrm>
          <a:prstGeom prst="roundRect">
            <a:avLst>
              <a:gd name="adj" fmla="val 26316"/>
            </a:avLst>
          </a:prstGeom>
          <a:solidFill>
            <a:srgbClr val="1E40A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3" name="Shape 61"/>
          <p:cNvSpPr/>
          <p:nvPr/>
        </p:nvSpPr>
        <p:spPr>
          <a:xfrm>
            <a:off x="2011680" y="5632704"/>
            <a:ext cx="8138160" cy="18288"/>
          </a:xfrm>
          <a:prstGeom prst="rect">
            <a:avLst/>
          </a:prstGeom>
          <a:solidFill>
            <a:srgbClr val="3B82F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4" name="Text 62"/>
          <p:cNvSpPr/>
          <p:nvPr/>
        </p:nvSpPr>
        <p:spPr>
          <a:xfrm>
            <a:off x="2194560" y="5330952"/>
            <a:ext cx="7772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📘  1BPRJ258 — Interdisciplinary Project-Based Learning</a:t>
            </a:r>
            <a:endParaRPr lang="en-US" sz="1400" dirty="0"/>
          </a:p>
        </p:txBody>
      </p:sp>
      <p:sp>
        <p:nvSpPr>
          <p:cNvPr id="65" name="Text 63"/>
          <p:cNvSpPr/>
          <p:nvPr/>
        </p:nvSpPr>
        <p:spPr>
          <a:xfrm>
            <a:off x="2194560" y="5715000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Guide: Prof. Somashekar T M  •  Dept. of ME</a:t>
            </a:r>
            <a:endParaRPr lang="en-US" sz="1400" dirty="0"/>
          </a:p>
        </p:txBody>
      </p:sp>
      <p:sp>
        <p:nvSpPr>
          <p:cNvPr id="66" name="Text 64"/>
          <p:cNvSpPr/>
          <p:nvPr/>
        </p:nvSpPr>
        <p:spPr>
          <a:xfrm>
            <a:off x="2194560" y="6035040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🏛️  Jain College of Engineering, Belagavi</a:t>
            </a:r>
            <a:endParaRPr lang="en-US" sz="1300" dirty="0"/>
          </a:p>
        </p:txBody>
      </p:sp>
      <p:sp>
        <p:nvSpPr>
          <p:cNvPr id="67" name="Text 65"/>
          <p:cNvSpPr/>
          <p:nvPr/>
        </p:nvSpPr>
        <p:spPr>
          <a:xfrm>
            <a:off x="2194560" y="6309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2025–26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11430000" y="6446520"/>
            <a:ext cx="548640" cy="256032"/>
          </a:xfrm>
          <a:prstGeom prst="roundRect">
            <a:avLst>
              <a:gd name="adj" fmla="val 21429"/>
            </a:avLst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9" name="Text 67"/>
          <p:cNvSpPr/>
          <p:nvPr/>
        </p:nvSpPr>
        <p:spPr>
          <a:xfrm>
            <a:off x="11430000" y="6455664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12/12</a:t>
            </a:r>
            <a:endParaRPr lang="en-US" sz="900" dirty="0"/>
          </a:p>
        </p:txBody>
      </p:sp>
      <p:sp>
        <p:nvSpPr>
          <p:cNvPr id="70" name="Text 68"/>
          <p:cNvSpPr/>
          <p:nvPr/>
        </p:nvSpPr>
        <p:spPr>
          <a:xfrm>
            <a:off x="320040" y="6473952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InstitutePulse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861</Words>
  <Application>Microsoft Office PowerPoint</Application>
  <PresentationFormat>Widescreen</PresentationFormat>
  <Paragraphs>264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InstitutePulse — Project Presentation</dc:title>
  <dc:subject>PptxGenJS Presentation</dc:subject>
  <dc:creator>InstitutePulse Team</dc:creator>
  <cp:lastModifiedBy>Darshan patel</cp:lastModifiedBy>
  <cp:revision>2</cp:revision>
  <dcterms:created xsi:type="dcterms:W3CDTF">2026-07-04T06:51:41Z</dcterms:created>
  <dcterms:modified xsi:type="dcterms:W3CDTF">2026-07-04T06:53:28Z</dcterms:modified>
</cp:coreProperties>
</file>